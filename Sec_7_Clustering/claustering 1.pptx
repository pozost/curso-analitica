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goDeoasTD16RFptgSykx6aLVal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/>
          <p:nvPr>
            <p:ph type="title"/>
          </p:nvPr>
        </p:nvSpPr>
        <p:spPr>
          <a:xfrm>
            <a:off x="2211577" y="363219"/>
            <a:ext cx="7768844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/>
          <p:nvPr>
            <p:ph idx="1" type="body"/>
          </p:nvPr>
        </p:nvSpPr>
        <p:spPr>
          <a:xfrm>
            <a:off x="1287399" y="2178050"/>
            <a:ext cx="9918700" cy="4042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8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/>
          <p:nvPr/>
        </p:nvSpPr>
        <p:spPr>
          <a:xfrm>
            <a:off x="0" y="0"/>
            <a:ext cx="12189460" cy="6858000"/>
          </a:xfrm>
          <a:custGeom>
            <a:rect b="b" l="l" r="r" t="t"/>
            <a:pathLst>
              <a:path extrusionOk="0" h="6858000" w="1218946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FCEA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" name="Google Shape;23;p29"/>
          <p:cNvSpPr txBox="1"/>
          <p:nvPr>
            <p:ph type="ctrTitle"/>
          </p:nvPr>
        </p:nvSpPr>
        <p:spPr>
          <a:xfrm>
            <a:off x="2114042" y="2146554"/>
            <a:ext cx="7963915" cy="136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9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9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0"/>
          <p:cNvSpPr/>
          <p:nvPr/>
        </p:nvSpPr>
        <p:spPr>
          <a:xfrm>
            <a:off x="0" y="0"/>
            <a:ext cx="12189460" cy="6858000"/>
          </a:xfrm>
          <a:custGeom>
            <a:rect b="b" l="l" r="r" t="t"/>
            <a:pathLst>
              <a:path extrusionOk="0" h="6858000" w="1218946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FCEAD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" name="Google Shape;30;p30"/>
          <p:cNvSpPr txBox="1"/>
          <p:nvPr>
            <p:ph type="title"/>
          </p:nvPr>
        </p:nvSpPr>
        <p:spPr>
          <a:xfrm>
            <a:off x="2211577" y="363219"/>
            <a:ext cx="7768844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0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1"/>
          <p:cNvSpPr txBox="1"/>
          <p:nvPr>
            <p:ph type="title"/>
          </p:nvPr>
        </p:nvSpPr>
        <p:spPr>
          <a:xfrm>
            <a:off x="2211577" y="363219"/>
            <a:ext cx="7768844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1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1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type="title"/>
          </p:nvPr>
        </p:nvSpPr>
        <p:spPr>
          <a:xfrm>
            <a:off x="2211577" y="363219"/>
            <a:ext cx="7768844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7"/>
          <p:cNvSpPr txBox="1"/>
          <p:nvPr>
            <p:ph idx="1" type="body"/>
          </p:nvPr>
        </p:nvSpPr>
        <p:spPr>
          <a:xfrm>
            <a:off x="1287399" y="2178050"/>
            <a:ext cx="9918700" cy="4042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10" Type="http://schemas.openxmlformats.org/officeDocument/2006/relationships/image" Target="../media/image17.png"/><Relationship Id="rId9" Type="http://schemas.openxmlformats.org/officeDocument/2006/relationships/image" Target="../media/image23.png"/><Relationship Id="rId5" Type="http://schemas.openxmlformats.org/officeDocument/2006/relationships/image" Target="../media/image9.png"/><Relationship Id="rId6" Type="http://schemas.openxmlformats.org/officeDocument/2006/relationships/image" Target="../media/image18.png"/><Relationship Id="rId7" Type="http://schemas.openxmlformats.org/officeDocument/2006/relationships/image" Target="../media/image27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23.png"/><Relationship Id="rId13" Type="http://schemas.openxmlformats.org/officeDocument/2006/relationships/image" Target="../media/image5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15" Type="http://schemas.openxmlformats.org/officeDocument/2006/relationships/image" Target="../media/image16.png"/><Relationship Id="rId14" Type="http://schemas.openxmlformats.org/officeDocument/2006/relationships/image" Target="../media/image24.png"/><Relationship Id="rId17" Type="http://schemas.openxmlformats.org/officeDocument/2006/relationships/image" Target="../media/image13.png"/><Relationship Id="rId16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18" Type="http://schemas.openxmlformats.org/officeDocument/2006/relationships/image" Target="../media/image34.png"/><Relationship Id="rId7" Type="http://schemas.openxmlformats.org/officeDocument/2006/relationships/image" Target="../media/image18.png"/><Relationship Id="rId8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hyperlink" Target="http://www.eecs.wsu.edu/~cook/dm/lectures/l9/index.html" TargetMode="External"/><Relationship Id="rId5" Type="http://schemas.openxmlformats.org/officeDocument/2006/relationships/hyperlink" Target="http://www.biology-online.org/articles/canine_genomics_genetics_running/figures.html" TargetMode="External"/><Relationship Id="rId6" Type="http://schemas.openxmlformats.org/officeDocument/2006/relationships/image" Target="../media/image1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8.png"/><Relationship Id="rId8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8.png"/><Relationship Id="rId8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2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8.png"/><Relationship Id="rId8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8.png"/><Relationship Id="rId8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8.png"/><Relationship Id="rId8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8.png"/><Relationship Id="rId8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4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8.png"/><Relationship Id="rId8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8.png"/><Relationship Id="rId8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8.png"/><Relationship Id="rId8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.png"/><Relationship Id="rId10" Type="http://schemas.openxmlformats.org/officeDocument/2006/relationships/image" Target="../media/image7.png"/><Relationship Id="rId1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Relationship Id="rId4" Type="http://schemas.openxmlformats.org/officeDocument/2006/relationships/hyperlink" Target="https://www.naftaliharris.com/blog/visualizing-k-means-clustering" TargetMode="External"/><Relationship Id="rId9" Type="http://schemas.openxmlformats.org/officeDocument/2006/relationships/image" Target="../media/image27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en.wikipedia.org/wiki/Determining_the_number_of_clusters_in_a_data_set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7.png"/><Relationship Id="rId4" Type="http://schemas.openxmlformats.org/officeDocument/2006/relationships/image" Target="../media/image51.png"/><Relationship Id="rId5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5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3.png"/><Relationship Id="rId7" Type="http://schemas.openxmlformats.org/officeDocument/2006/relationships/image" Target="../media/image66.png"/><Relationship Id="rId8" Type="http://schemas.openxmlformats.org/officeDocument/2006/relationships/image" Target="../media/image6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3.png"/><Relationship Id="rId4" Type="http://schemas.openxmlformats.org/officeDocument/2006/relationships/image" Target="../media/image6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0.jpg"/><Relationship Id="rId4" Type="http://schemas.openxmlformats.org/officeDocument/2006/relationships/image" Target="../media/image56.jpg"/><Relationship Id="rId5" Type="http://schemas.openxmlformats.org/officeDocument/2006/relationships/hyperlink" Target="http://wannabite.com/wp-content/uploads/2014/10/ragu-pasta-sauce-printable-coupon.jpg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8.jpg"/><Relationship Id="rId4" Type="http://schemas.openxmlformats.org/officeDocument/2006/relationships/image" Target="../media/image53.png"/><Relationship Id="rId5" Type="http://schemas.openxmlformats.org/officeDocument/2006/relationships/image" Target="../media/image57.png"/><Relationship Id="rId6" Type="http://schemas.openxmlformats.org/officeDocument/2006/relationships/image" Target="../media/image65.png"/><Relationship Id="rId7" Type="http://schemas.openxmlformats.org/officeDocument/2006/relationships/image" Target="../media/image55.jpg"/><Relationship Id="rId8" Type="http://schemas.openxmlformats.org/officeDocument/2006/relationships/image" Target="../media/image4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 txBox="1"/>
          <p:nvPr>
            <p:ph type="title"/>
          </p:nvPr>
        </p:nvSpPr>
        <p:spPr>
          <a:xfrm>
            <a:off x="2651761" y="363219"/>
            <a:ext cx="7940039" cy="689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Aprendizaje no supervisado</a:t>
            </a:r>
            <a:endParaRPr/>
          </a:p>
        </p:txBody>
      </p:sp>
      <p:sp>
        <p:nvSpPr>
          <p:cNvPr id="50" name="Google Shape;50;p1"/>
          <p:cNvSpPr txBox="1"/>
          <p:nvPr/>
        </p:nvSpPr>
        <p:spPr>
          <a:xfrm>
            <a:off x="914400" y="1185116"/>
            <a:ext cx="10830560" cy="553420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422" l="-1743" r="0" t="-165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/>
              <a:t> 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 txBox="1"/>
          <p:nvPr>
            <p:ph type="title"/>
          </p:nvPr>
        </p:nvSpPr>
        <p:spPr>
          <a:xfrm>
            <a:off x="4946650" y="363219"/>
            <a:ext cx="229679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Clustering</a:t>
            </a:r>
            <a:endParaRPr/>
          </a:p>
        </p:txBody>
      </p:sp>
      <p:sp>
        <p:nvSpPr>
          <p:cNvPr id="56" name="Google Shape;56;p2"/>
          <p:cNvSpPr txBox="1"/>
          <p:nvPr/>
        </p:nvSpPr>
        <p:spPr>
          <a:xfrm>
            <a:off x="590867" y="960574"/>
            <a:ext cx="11008360" cy="52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8575">
            <a:spAutoFit/>
          </a:bodyPr>
          <a:lstStyle/>
          <a:p>
            <a:pPr indent="0" lvl="0" marL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Clustering</a:t>
            </a:r>
            <a:r>
              <a:rPr lang="es-ES" sz="2800">
                <a:latin typeface="Calibri"/>
                <a:ea typeface="Calibri"/>
                <a:cs typeface="Calibri"/>
                <a:sym typeface="Calibri"/>
              </a:rPr>
              <a:t>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9375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s-ES" sz="2400">
                <a:latin typeface="Calibri"/>
                <a:ea typeface="Calibri"/>
                <a:cs typeface="Calibri"/>
                <a:sym typeface="Calibri"/>
              </a:rPr>
              <a:t>Entrada: conjunto de ejemplos descritos por las características xi.</a:t>
            </a:r>
            <a:endParaRPr/>
          </a:p>
          <a:p>
            <a:pPr indent="-285750" lvl="1" marL="79375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s-ES" sz="2400">
                <a:latin typeface="Calibri"/>
                <a:ea typeface="Calibri"/>
                <a:cs typeface="Calibri"/>
                <a:sym typeface="Calibri"/>
              </a:rPr>
              <a:t>Resultado: </a:t>
            </a:r>
            <a:r>
              <a:rPr lang="es-E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una asignación de ejemplos a "grupos".</a:t>
            </a:r>
            <a:endParaRPr sz="24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0800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None/>
            </a:pPr>
            <a:r>
              <a:rPr lang="es-ES" sz="2800">
                <a:latin typeface="Calibri"/>
                <a:ea typeface="Calibri"/>
                <a:cs typeface="Calibri"/>
                <a:sym typeface="Calibri"/>
              </a:rPr>
              <a:t>Diferente de la clasificación, </a:t>
            </a:r>
            <a:r>
              <a:rPr lang="es-ES" sz="28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nos dan los 'grupos'. </a:t>
            </a:r>
            <a:endParaRPr/>
          </a:p>
          <a:p>
            <a:pPr indent="-342900" lvl="3" marL="393700" rtl="0" algn="l">
              <a:spcBef>
                <a:spcPts val="69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algoritmo debe descubrir grupos.</a:t>
            </a:r>
            <a:endParaRPr/>
          </a:p>
          <a:p>
            <a:pPr indent="0" lvl="3" marL="50800" rtl="0" algn="l">
              <a:spcBef>
                <a:spcPts val="69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 de grupos que podríamos descubrir en el spam de correo electrónico:</a:t>
            </a:r>
            <a:endParaRPr/>
          </a:p>
          <a:p>
            <a:pPr indent="-342900" lvl="8" marL="393700" rtl="0" algn="l">
              <a:spcBef>
                <a:spcPts val="69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Grupo "ganador de la suerte".</a:t>
            </a:r>
            <a:endParaRPr/>
          </a:p>
          <a:p>
            <a:pPr indent="-342900" lvl="8" marL="393700" rtl="0" algn="l">
              <a:spcBef>
                <a:spcPts val="69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Grupo "Pérdida de peso".</a:t>
            </a:r>
            <a:endParaRPr/>
          </a:p>
          <a:p>
            <a:pPr indent="-342900" lvl="8" marL="393700" rtl="0" algn="l">
              <a:spcBef>
                <a:spcPts val="69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Grupo "Necesito tu ayuda".</a:t>
            </a:r>
            <a:endParaRPr/>
          </a:p>
          <a:p>
            <a:pPr indent="-342900" lvl="8" marL="393700" rtl="0" algn="l">
              <a:spcBef>
                <a:spcPts val="69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Grupo de "Novios por correo".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 txBox="1"/>
          <p:nvPr/>
        </p:nvSpPr>
        <p:spPr>
          <a:xfrm>
            <a:off x="2362073" y="535990"/>
            <a:ext cx="6313423" cy="689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latin typeface="Calibri"/>
                <a:ea typeface="Calibri"/>
                <a:cs typeface="Calibri"/>
                <a:sym typeface="Calibri"/>
              </a:rPr>
              <a:t>Clustering: Ejemplo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45" y="3184270"/>
            <a:ext cx="356387" cy="2607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3"/>
          <p:cNvGrpSpPr/>
          <p:nvPr/>
        </p:nvGrpSpPr>
        <p:grpSpPr>
          <a:xfrm>
            <a:off x="1207490" y="2670682"/>
            <a:ext cx="746659" cy="2102993"/>
            <a:chOff x="1207490" y="2670682"/>
            <a:chExt cx="746659" cy="2102993"/>
          </a:xfrm>
        </p:grpSpPr>
        <p:pic>
          <p:nvPicPr>
            <p:cNvPr id="64" name="Google Shape;64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22528" y="2715259"/>
              <a:ext cx="289202" cy="229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07490" y="2670682"/>
              <a:ext cx="654202" cy="21029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622552" y="3087115"/>
              <a:ext cx="331597" cy="2706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7" name="Google Shape;67;p3"/>
          <p:cNvGrpSpPr/>
          <p:nvPr/>
        </p:nvGrpSpPr>
        <p:grpSpPr>
          <a:xfrm>
            <a:off x="2130961" y="2705100"/>
            <a:ext cx="680183" cy="2052066"/>
            <a:chOff x="2130961" y="2705100"/>
            <a:chExt cx="680183" cy="2052066"/>
          </a:xfrm>
        </p:grpSpPr>
        <p:pic>
          <p:nvPicPr>
            <p:cNvPr id="68" name="Google Shape;68;p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146808" y="2725166"/>
              <a:ext cx="430530" cy="234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130961" y="3202177"/>
              <a:ext cx="119732" cy="2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197354" y="2705100"/>
              <a:ext cx="613790" cy="20520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3"/>
          <p:cNvSpPr txBox="1"/>
          <p:nvPr/>
        </p:nvSpPr>
        <p:spPr>
          <a:xfrm>
            <a:off x="950975" y="2093214"/>
            <a:ext cx="20142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Input: data matrix ‘X’.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mitations of the traditional K-means algorithm." id="72" name="Google Shape;72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380233" y="1752600"/>
            <a:ext cx="6825999" cy="3637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imitations of the traditional K-means algorithm." id="77" name="Google Shape;7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2860" y="2193510"/>
            <a:ext cx="6825999" cy="363785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 txBox="1"/>
          <p:nvPr>
            <p:ph type="title"/>
          </p:nvPr>
        </p:nvSpPr>
        <p:spPr>
          <a:xfrm>
            <a:off x="2965195" y="709742"/>
            <a:ext cx="6136611" cy="689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latin typeface="Calibri"/>
                <a:ea typeface="Calibri"/>
                <a:cs typeface="Calibri"/>
                <a:sym typeface="Calibri"/>
              </a:rPr>
              <a:t>Clustering: Ejemplo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145" y="3184270"/>
            <a:ext cx="356387" cy="2607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p4"/>
          <p:cNvGrpSpPr/>
          <p:nvPr/>
        </p:nvGrpSpPr>
        <p:grpSpPr>
          <a:xfrm>
            <a:off x="1207490" y="2670682"/>
            <a:ext cx="746659" cy="2102993"/>
            <a:chOff x="1207490" y="2670682"/>
            <a:chExt cx="746659" cy="2102993"/>
          </a:xfrm>
        </p:grpSpPr>
        <p:pic>
          <p:nvPicPr>
            <p:cNvPr id="81" name="Google Shape;81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22528" y="2715259"/>
              <a:ext cx="289202" cy="229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07490" y="2670682"/>
              <a:ext cx="654202" cy="21029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22552" y="3087115"/>
              <a:ext cx="331597" cy="2706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" name="Google Shape;84;p4"/>
          <p:cNvGrpSpPr/>
          <p:nvPr/>
        </p:nvGrpSpPr>
        <p:grpSpPr>
          <a:xfrm>
            <a:off x="2130961" y="2705100"/>
            <a:ext cx="680183" cy="2052066"/>
            <a:chOff x="2130961" y="2705100"/>
            <a:chExt cx="680183" cy="2052066"/>
          </a:xfrm>
        </p:grpSpPr>
        <p:pic>
          <p:nvPicPr>
            <p:cNvPr id="85" name="Google Shape;85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146808" y="2725166"/>
              <a:ext cx="430530" cy="234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130961" y="3202177"/>
              <a:ext cx="119732" cy="2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197354" y="2705100"/>
              <a:ext cx="613790" cy="20520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8" name="Google Shape;88;p4"/>
          <p:cNvSpPr txBox="1"/>
          <p:nvPr/>
        </p:nvSpPr>
        <p:spPr>
          <a:xfrm>
            <a:off x="818640" y="1973724"/>
            <a:ext cx="2014220" cy="56682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23655" l="-6342" r="0" t="-1182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/>
              <a:t> </a:t>
            </a:r>
            <a:endParaRPr/>
          </a:p>
        </p:txBody>
      </p:sp>
      <p:sp>
        <p:nvSpPr>
          <p:cNvPr id="89" name="Google Shape;89;p4"/>
          <p:cNvSpPr txBox="1"/>
          <p:nvPr/>
        </p:nvSpPr>
        <p:spPr>
          <a:xfrm>
            <a:off x="9687749" y="1952750"/>
            <a:ext cx="2093279" cy="579646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24208" l="-6104" r="0" t="-1157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/>
              <a:t> </a:t>
            </a:r>
            <a:endParaRPr/>
          </a:p>
        </p:txBody>
      </p:sp>
      <p:pic>
        <p:nvPicPr>
          <p:cNvPr id="90" name="Google Shape;90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884282" y="3276980"/>
            <a:ext cx="147700" cy="110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389096" y="2739389"/>
            <a:ext cx="131584" cy="22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351769" y="3064510"/>
            <a:ext cx="1445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331577" y="3394202"/>
            <a:ext cx="120304" cy="245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310241" y="3783838"/>
            <a:ext cx="10617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"/>
          <p:cNvSpPr/>
          <p:nvPr/>
        </p:nvSpPr>
        <p:spPr>
          <a:xfrm>
            <a:off x="10354182" y="4118990"/>
            <a:ext cx="32384" cy="169545"/>
          </a:xfrm>
          <a:custGeom>
            <a:rect b="b" l="l" r="r" t="t"/>
            <a:pathLst>
              <a:path extrusionOk="0" h="169545" w="32384">
                <a:moveTo>
                  <a:pt x="31878" y="110997"/>
                </a:moveTo>
                <a:lnTo>
                  <a:pt x="4443" y="110997"/>
                </a:lnTo>
                <a:lnTo>
                  <a:pt x="4445" y="135508"/>
                </a:lnTo>
                <a:lnTo>
                  <a:pt x="4572" y="146684"/>
                </a:lnTo>
                <a:lnTo>
                  <a:pt x="5334" y="159257"/>
                </a:lnTo>
                <a:lnTo>
                  <a:pt x="10414" y="169290"/>
                </a:lnTo>
                <a:lnTo>
                  <a:pt x="25857" y="156231"/>
                </a:lnTo>
                <a:lnTo>
                  <a:pt x="9651" y="155066"/>
                </a:lnTo>
                <a:lnTo>
                  <a:pt x="12446" y="151002"/>
                </a:lnTo>
                <a:lnTo>
                  <a:pt x="31488" y="151002"/>
                </a:lnTo>
                <a:lnTo>
                  <a:pt x="31750" y="146684"/>
                </a:lnTo>
                <a:lnTo>
                  <a:pt x="32003" y="122554"/>
                </a:lnTo>
                <a:lnTo>
                  <a:pt x="31878" y="110997"/>
                </a:lnTo>
                <a:close/>
              </a:path>
              <a:path extrusionOk="0" h="169545" w="32384">
                <a:moveTo>
                  <a:pt x="29337" y="153288"/>
                </a:moveTo>
                <a:lnTo>
                  <a:pt x="25857" y="156231"/>
                </a:lnTo>
                <a:lnTo>
                  <a:pt x="30861" y="156590"/>
                </a:lnTo>
                <a:lnTo>
                  <a:pt x="30988" y="159257"/>
                </a:lnTo>
                <a:lnTo>
                  <a:pt x="31157" y="156463"/>
                </a:lnTo>
                <a:lnTo>
                  <a:pt x="29845" y="156463"/>
                </a:lnTo>
                <a:lnTo>
                  <a:pt x="29337" y="153288"/>
                </a:lnTo>
                <a:close/>
              </a:path>
              <a:path extrusionOk="0" h="169545" w="32384">
                <a:moveTo>
                  <a:pt x="29845" y="153288"/>
                </a:moveTo>
                <a:lnTo>
                  <a:pt x="29337" y="153288"/>
                </a:lnTo>
                <a:lnTo>
                  <a:pt x="29845" y="156463"/>
                </a:lnTo>
                <a:lnTo>
                  <a:pt x="29845" y="153288"/>
                </a:lnTo>
                <a:close/>
              </a:path>
              <a:path extrusionOk="0" h="169545" w="32384">
                <a:moveTo>
                  <a:pt x="31488" y="151002"/>
                </a:moveTo>
                <a:lnTo>
                  <a:pt x="12446" y="151002"/>
                </a:lnTo>
                <a:lnTo>
                  <a:pt x="12192" y="151383"/>
                </a:lnTo>
                <a:lnTo>
                  <a:pt x="29845" y="151383"/>
                </a:lnTo>
                <a:lnTo>
                  <a:pt x="29845" y="156463"/>
                </a:lnTo>
                <a:lnTo>
                  <a:pt x="31157" y="156463"/>
                </a:lnTo>
                <a:lnTo>
                  <a:pt x="31488" y="151002"/>
                </a:lnTo>
                <a:close/>
              </a:path>
              <a:path extrusionOk="0" h="169545" w="32384">
                <a:moveTo>
                  <a:pt x="29845" y="151383"/>
                </a:moveTo>
                <a:lnTo>
                  <a:pt x="12184" y="151383"/>
                </a:lnTo>
                <a:lnTo>
                  <a:pt x="9651" y="155066"/>
                </a:lnTo>
                <a:lnTo>
                  <a:pt x="25857" y="156231"/>
                </a:lnTo>
                <a:lnTo>
                  <a:pt x="29337" y="153288"/>
                </a:lnTo>
                <a:lnTo>
                  <a:pt x="29845" y="153288"/>
                </a:lnTo>
                <a:lnTo>
                  <a:pt x="29845" y="151383"/>
                </a:lnTo>
                <a:close/>
              </a:path>
              <a:path extrusionOk="0" h="169545" w="32384">
                <a:moveTo>
                  <a:pt x="4445" y="110870"/>
                </a:moveTo>
                <a:close/>
              </a:path>
              <a:path extrusionOk="0" h="169545" w="32384">
                <a:moveTo>
                  <a:pt x="4699" y="44195"/>
                </a:moveTo>
                <a:lnTo>
                  <a:pt x="4572" y="54609"/>
                </a:lnTo>
                <a:lnTo>
                  <a:pt x="4445" y="110997"/>
                </a:lnTo>
                <a:lnTo>
                  <a:pt x="31876" y="110997"/>
                </a:lnTo>
                <a:lnTo>
                  <a:pt x="31750" y="54609"/>
                </a:lnTo>
                <a:lnTo>
                  <a:pt x="31638" y="45465"/>
                </a:lnTo>
                <a:lnTo>
                  <a:pt x="4825" y="45465"/>
                </a:lnTo>
                <a:lnTo>
                  <a:pt x="4699" y="44195"/>
                </a:lnTo>
                <a:close/>
              </a:path>
              <a:path extrusionOk="0" h="169545" w="32384">
                <a:moveTo>
                  <a:pt x="28100" y="22351"/>
                </a:moveTo>
                <a:lnTo>
                  <a:pt x="2413" y="22351"/>
                </a:lnTo>
                <a:lnTo>
                  <a:pt x="2794" y="24002"/>
                </a:lnTo>
                <a:lnTo>
                  <a:pt x="2667" y="24510"/>
                </a:lnTo>
                <a:lnTo>
                  <a:pt x="3175" y="28828"/>
                </a:lnTo>
                <a:lnTo>
                  <a:pt x="3175" y="28955"/>
                </a:lnTo>
                <a:lnTo>
                  <a:pt x="4064" y="36194"/>
                </a:lnTo>
                <a:lnTo>
                  <a:pt x="4825" y="45465"/>
                </a:lnTo>
                <a:lnTo>
                  <a:pt x="31638" y="45465"/>
                </a:lnTo>
                <a:lnTo>
                  <a:pt x="31623" y="44195"/>
                </a:lnTo>
                <a:lnTo>
                  <a:pt x="31496" y="42544"/>
                </a:lnTo>
                <a:lnTo>
                  <a:pt x="30099" y="32765"/>
                </a:lnTo>
                <a:lnTo>
                  <a:pt x="29972" y="32257"/>
                </a:lnTo>
                <a:lnTo>
                  <a:pt x="28575" y="24510"/>
                </a:lnTo>
                <a:lnTo>
                  <a:pt x="28463" y="24002"/>
                </a:lnTo>
                <a:lnTo>
                  <a:pt x="2794" y="24002"/>
                </a:lnTo>
                <a:lnTo>
                  <a:pt x="2457" y="22733"/>
                </a:lnTo>
                <a:lnTo>
                  <a:pt x="28183" y="22733"/>
                </a:lnTo>
                <a:lnTo>
                  <a:pt x="28100" y="22351"/>
                </a:lnTo>
                <a:close/>
              </a:path>
              <a:path extrusionOk="0" h="169545" w="32384">
                <a:moveTo>
                  <a:pt x="3937" y="35686"/>
                </a:moveTo>
                <a:lnTo>
                  <a:pt x="3983" y="36194"/>
                </a:lnTo>
                <a:lnTo>
                  <a:pt x="3937" y="35686"/>
                </a:lnTo>
                <a:close/>
              </a:path>
              <a:path extrusionOk="0" h="169545" w="32384">
                <a:moveTo>
                  <a:pt x="2413" y="22351"/>
                </a:moveTo>
                <a:lnTo>
                  <a:pt x="2457" y="22733"/>
                </a:lnTo>
                <a:lnTo>
                  <a:pt x="2794" y="24002"/>
                </a:lnTo>
                <a:lnTo>
                  <a:pt x="2413" y="22351"/>
                </a:lnTo>
                <a:close/>
              </a:path>
              <a:path extrusionOk="0" h="169545" w="32384">
                <a:moveTo>
                  <a:pt x="1205" y="14442"/>
                </a:moveTo>
                <a:lnTo>
                  <a:pt x="1247" y="16128"/>
                </a:lnTo>
                <a:lnTo>
                  <a:pt x="1360" y="17652"/>
                </a:lnTo>
                <a:lnTo>
                  <a:pt x="1650" y="19684"/>
                </a:lnTo>
                <a:lnTo>
                  <a:pt x="2457" y="22733"/>
                </a:lnTo>
                <a:lnTo>
                  <a:pt x="2413" y="22351"/>
                </a:lnTo>
                <a:lnTo>
                  <a:pt x="28100" y="22351"/>
                </a:lnTo>
                <a:lnTo>
                  <a:pt x="27932" y="21589"/>
                </a:lnTo>
                <a:lnTo>
                  <a:pt x="7112" y="21589"/>
                </a:lnTo>
                <a:lnTo>
                  <a:pt x="6603" y="21335"/>
                </a:lnTo>
                <a:lnTo>
                  <a:pt x="5842" y="20700"/>
                </a:lnTo>
                <a:lnTo>
                  <a:pt x="5125" y="18287"/>
                </a:lnTo>
                <a:lnTo>
                  <a:pt x="3175" y="18287"/>
                </a:lnTo>
                <a:lnTo>
                  <a:pt x="2286" y="16890"/>
                </a:lnTo>
                <a:lnTo>
                  <a:pt x="1205" y="14442"/>
                </a:lnTo>
                <a:close/>
              </a:path>
              <a:path extrusionOk="0" h="169545" w="32384">
                <a:moveTo>
                  <a:pt x="14578" y="14615"/>
                </a:moveTo>
                <a:lnTo>
                  <a:pt x="4513" y="16229"/>
                </a:lnTo>
                <a:lnTo>
                  <a:pt x="5842" y="20700"/>
                </a:lnTo>
                <a:lnTo>
                  <a:pt x="6603" y="21335"/>
                </a:lnTo>
                <a:lnTo>
                  <a:pt x="7112" y="21589"/>
                </a:lnTo>
                <a:lnTo>
                  <a:pt x="11175" y="21589"/>
                </a:lnTo>
                <a:lnTo>
                  <a:pt x="11684" y="21335"/>
                </a:lnTo>
                <a:lnTo>
                  <a:pt x="13063" y="19430"/>
                </a:lnTo>
                <a:lnTo>
                  <a:pt x="10795" y="19430"/>
                </a:lnTo>
                <a:lnTo>
                  <a:pt x="14578" y="14615"/>
                </a:lnTo>
                <a:close/>
              </a:path>
              <a:path extrusionOk="0" h="169545" w="32384">
                <a:moveTo>
                  <a:pt x="25734" y="14223"/>
                </a:moveTo>
                <a:lnTo>
                  <a:pt x="17018" y="14223"/>
                </a:lnTo>
                <a:lnTo>
                  <a:pt x="15367" y="16382"/>
                </a:lnTo>
                <a:lnTo>
                  <a:pt x="14441" y="17147"/>
                </a:lnTo>
                <a:lnTo>
                  <a:pt x="14350" y="17652"/>
                </a:lnTo>
                <a:lnTo>
                  <a:pt x="11684" y="21335"/>
                </a:lnTo>
                <a:lnTo>
                  <a:pt x="11175" y="21589"/>
                </a:lnTo>
                <a:lnTo>
                  <a:pt x="27932" y="21589"/>
                </a:lnTo>
                <a:lnTo>
                  <a:pt x="27177" y="18160"/>
                </a:lnTo>
                <a:lnTo>
                  <a:pt x="26543" y="16128"/>
                </a:lnTo>
                <a:lnTo>
                  <a:pt x="25734" y="14223"/>
                </a:lnTo>
                <a:close/>
              </a:path>
              <a:path extrusionOk="0" h="169545" w="32384">
                <a:moveTo>
                  <a:pt x="14902" y="14563"/>
                </a:moveTo>
                <a:lnTo>
                  <a:pt x="14578" y="14615"/>
                </a:lnTo>
                <a:lnTo>
                  <a:pt x="10795" y="19430"/>
                </a:lnTo>
                <a:lnTo>
                  <a:pt x="12446" y="18795"/>
                </a:lnTo>
                <a:lnTo>
                  <a:pt x="14441" y="17147"/>
                </a:lnTo>
                <a:lnTo>
                  <a:pt x="14902" y="14563"/>
                </a:lnTo>
                <a:close/>
              </a:path>
              <a:path extrusionOk="0" h="169545" w="32384">
                <a:moveTo>
                  <a:pt x="14441" y="17147"/>
                </a:moveTo>
                <a:lnTo>
                  <a:pt x="12446" y="18795"/>
                </a:lnTo>
                <a:lnTo>
                  <a:pt x="10795" y="19430"/>
                </a:lnTo>
                <a:lnTo>
                  <a:pt x="13063" y="19430"/>
                </a:lnTo>
                <a:lnTo>
                  <a:pt x="14350" y="17652"/>
                </a:lnTo>
                <a:lnTo>
                  <a:pt x="14441" y="17147"/>
                </a:lnTo>
                <a:close/>
              </a:path>
              <a:path extrusionOk="0" h="169545" w="32384">
                <a:moveTo>
                  <a:pt x="1145" y="12038"/>
                </a:moveTo>
                <a:lnTo>
                  <a:pt x="1259" y="14563"/>
                </a:lnTo>
                <a:lnTo>
                  <a:pt x="2286" y="16890"/>
                </a:lnTo>
                <a:lnTo>
                  <a:pt x="3175" y="18287"/>
                </a:lnTo>
                <a:lnTo>
                  <a:pt x="1203" y="12128"/>
                </a:lnTo>
                <a:close/>
              </a:path>
              <a:path extrusionOk="0" h="169545" w="32384">
                <a:moveTo>
                  <a:pt x="1203" y="12128"/>
                </a:moveTo>
                <a:lnTo>
                  <a:pt x="3175" y="18287"/>
                </a:lnTo>
                <a:lnTo>
                  <a:pt x="5125" y="18287"/>
                </a:lnTo>
                <a:lnTo>
                  <a:pt x="4710" y="16890"/>
                </a:lnTo>
                <a:lnTo>
                  <a:pt x="4318" y="16890"/>
                </a:lnTo>
                <a:lnTo>
                  <a:pt x="3556" y="16382"/>
                </a:lnTo>
                <a:lnTo>
                  <a:pt x="2921" y="16382"/>
                </a:lnTo>
                <a:lnTo>
                  <a:pt x="2961" y="14815"/>
                </a:lnTo>
                <a:lnTo>
                  <a:pt x="1203" y="12128"/>
                </a:lnTo>
                <a:close/>
              </a:path>
              <a:path extrusionOk="0" h="169545" w="32384">
                <a:moveTo>
                  <a:pt x="17018" y="14223"/>
                </a:moveTo>
                <a:lnTo>
                  <a:pt x="14902" y="14563"/>
                </a:lnTo>
                <a:lnTo>
                  <a:pt x="14441" y="17147"/>
                </a:lnTo>
                <a:lnTo>
                  <a:pt x="15367" y="16382"/>
                </a:lnTo>
                <a:lnTo>
                  <a:pt x="17018" y="14223"/>
                </a:lnTo>
                <a:close/>
              </a:path>
              <a:path extrusionOk="0" h="169545" w="32384">
                <a:moveTo>
                  <a:pt x="3945" y="16320"/>
                </a:moveTo>
                <a:lnTo>
                  <a:pt x="3556" y="16382"/>
                </a:lnTo>
                <a:lnTo>
                  <a:pt x="4318" y="16890"/>
                </a:lnTo>
                <a:lnTo>
                  <a:pt x="3945" y="16320"/>
                </a:lnTo>
                <a:close/>
              </a:path>
              <a:path extrusionOk="0" h="169545" w="32384">
                <a:moveTo>
                  <a:pt x="4513" y="16229"/>
                </a:moveTo>
                <a:lnTo>
                  <a:pt x="3945" y="16320"/>
                </a:lnTo>
                <a:lnTo>
                  <a:pt x="4318" y="16890"/>
                </a:lnTo>
                <a:lnTo>
                  <a:pt x="4710" y="16890"/>
                </a:lnTo>
                <a:lnTo>
                  <a:pt x="4513" y="16229"/>
                </a:lnTo>
                <a:close/>
              </a:path>
              <a:path extrusionOk="0" h="169545" w="32384">
                <a:moveTo>
                  <a:pt x="2981" y="14846"/>
                </a:moveTo>
                <a:lnTo>
                  <a:pt x="2921" y="16382"/>
                </a:lnTo>
                <a:lnTo>
                  <a:pt x="3556" y="16382"/>
                </a:lnTo>
                <a:lnTo>
                  <a:pt x="3945" y="16320"/>
                </a:lnTo>
                <a:lnTo>
                  <a:pt x="2981" y="14846"/>
                </a:lnTo>
                <a:close/>
              </a:path>
              <a:path extrusionOk="0" h="169545" w="32384">
                <a:moveTo>
                  <a:pt x="3556" y="253"/>
                </a:moveTo>
                <a:lnTo>
                  <a:pt x="3310" y="6476"/>
                </a:lnTo>
                <a:lnTo>
                  <a:pt x="3239" y="11937"/>
                </a:lnTo>
                <a:lnTo>
                  <a:pt x="4513" y="16229"/>
                </a:lnTo>
                <a:lnTo>
                  <a:pt x="14578" y="14615"/>
                </a:lnTo>
                <a:lnTo>
                  <a:pt x="14986" y="14096"/>
                </a:lnTo>
                <a:lnTo>
                  <a:pt x="25680" y="14096"/>
                </a:lnTo>
                <a:lnTo>
                  <a:pt x="25465" y="13588"/>
                </a:lnTo>
                <a:lnTo>
                  <a:pt x="25273" y="13588"/>
                </a:lnTo>
                <a:lnTo>
                  <a:pt x="24796" y="12038"/>
                </a:lnTo>
                <a:lnTo>
                  <a:pt x="24002" y="8762"/>
                </a:lnTo>
                <a:lnTo>
                  <a:pt x="16046" y="1138"/>
                </a:lnTo>
                <a:lnTo>
                  <a:pt x="3556" y="253"/>
                </a:lnTo>
                <a:close/>
              </a:path>
              <a:path extrusionOk="0" h="169545" w="32384">
                <a:moveTo>
                  <a:pt x="3051" y="11305"/>
                </a:moveTo>
                <a:lnTo>
                  <a:pt x="2981" y="14846"/>
                </a:lnTo>
                <a:lnTo>
                  <a:pt x="3095" y="11937"/>
                </a:lnTo>
                <a:lnTo>
                  <a:pt x="3051" y="11305"/>
                </a:lnTo>
                <a:close/>
              </a:path>
              <a:path extrusionOk="0" h="169545" w="32384">
                <a:moveTo>
                  <a:pt x="14986" y="14096"/>
                </a:moveTo>
                <a:lnTo>
                  <a:pt x="14578" y="14615"/>
                </a:lnTo>
                <a:lnTo>
                  <a:pt x="14902" y="14563"/>
                </a:lnTo>
                <a:lnTo>
                  <a:pt x="14986" y="14096"/>
                </a:lnTo>
                <a:close/>
              </a:path>
              <a:path extrusionOk="0" h="169545" w="32384">
                <a:moveTo>
                  <a:pt x="25680" y="14096"/>
                </a:moveTo>
                <a:lnTo>
                  <a:pt x="14986" y="14096"/>
                </a:lnTo>
                <a:lnTo>
                  <a:pt x="14902" y="14563"/>
                </a:lnTo>
                <a:lnTo>
                  <a:pt x="17018" y="14223"/>
                </a:lnTo>
                <a:lnTo>
                  <a:pt x="25734" y="14223"/>
                </a:lnTo>
                <a:close/>
              </a:path>
              <a:path extrusionOk="0" h="169545" w="32384">
                <a:moveTo>
                  <a:pt x="0" y="10286"/>
                </a:moveTo>
                <a:lnTo>
                  <a:pt x="381" y="12572"/>
                </a:lnTo>
                <a:lnTo>
                  <a:pt x="1205" y="14442"/>
                </a:lnTo>
                <a:lnTo>
                  <a:pt x="1079" y="11937"/>
                </a:lnTo>
                <a:lnTo>
                  <a:pt x="0" y="10286"/>
                </a:lnTo>
                <a:close/>
              </a:path>
              <a:path extrusionOk="0" h="169545" w="32384">
                <a:moveTo>
                  <a:pt x="24765" y="11937"/>
                </a:moveTo>
                <a:lnTo>
                  <a:pt x="25273" y="13588"/>
                </a:lnTo>
                <a:lnTo>
                  <a:pt x="24958" y="12394"/>
                </a:lnTo>
                <a:lnTo>
                  <a:pt x="24765" y="11937"/>
                </a:lnTo>
                <a:close/>
              </a:path>
              <a:path extrusionOk="0" h="169545" w="32384">
                <a:moveTo>
                  <a:pt x="24958" y="12394"/>
                </a:moveTo>
                <a:lnTo>
                  <a:pt x="25273" y="13588"/>
                </a:lnTo>
                <a:lnTo>
                  <a:pt x="25465" y="13588"/>
                </a:lnTo>
                <a:lnTo>
                  <a:pt x="24958" y="12394"/>
                </a:lnTo>
                <a:close/>
              </a:path>
              <a:path extrusionOk="0" h="169545" w="32384">
                <a:moveTo>
                  <a:pt x="24838" y="11937"/>
                </a:moveTo>
                <a:lnTo>
                  <a:pt x="24958" y="12394"/>
                </a:lnTo>
                <a:lnTo>
                  <a:pt x="24838" y="11937"/>
                </a:lnTo>
                <a:close/>
              </a:path>
              <a:path extrusionOk="0" h="169545" w="32384">
                <a:moveTo>
                  <a:pt x="3175" y="6476"/>
                </a:moveTo>
                <a:lnTo>
                  <a:pt x="2032" y="7873"/>
                </a:lnTo>
                <a:lnTo>
                  <a:pt x="3051" y="11305"/>
                </a:lnTo>
                <a:lnTo>
                  <a:pt x="3175" y="6476"/>
                </a:lnTo>
                <a:close/>
              </a:path>
              <a:path extrusionOk="0" h="169545" w="32384">
                <a:moveTo>
                  <a:pt x="16628" y="1179"/>
                </a:moveTo>
                <a:lnTo>
                  <a:pt x="19431" y="3047"/>
                </a:lnTo>
                <a:lnTo>
                  <a:pt x="17907" y="1269"/>
                </a:lnTo>
                <a:lnTo>
                  <a:pt x="16628" y="1179"/>
                </a:lnTo>
                <a:close/>
              </a:path>
              <a:path extrusionOk="0" h="169545" w="32384">
                <a:moveTo>
                  <a:pt x="14859" y="0"/>
                </a:moveTo>
                <a:lnTo>
                  <a:pt x="16046" y="1138"/>
                </a:lnTo>
                <a:lnTo>
                  <a:pt x="16628" y="1179"/>
                </a:lnTo>
                <a:lnTo>
                  <a:pt x="1485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6" name="Google Shape;96;p4"/>
          <p:cNvSpPr/>
          <p:nvPr/>
        </p:nvSpPr>
        <p:spPr>
          <a:xfrm>
            <a:off x="10566272" y="2740405"/>
            <a:ext cx="212090" cy="2032000"/>
          </a:xfrm>
          <a:custGeom>
            <a:rect b="b" l="l" r="r" t="t"/>
            <a:pathLst>
              <a:path extrusionOk="0" h="2032000" w="212090">
                <a:moveTo>
                  <a:pt x="166116" y="2019300"/>
                </a:moveTo>
                <a:lnTo>
                  <a:pt x="0" y="2019300"/>
                </a:lnTo>
                <a:lnTo>
                  <a:pt x="5079" y="2032000"/>
                </a:lnTo>
                <a:lnTo>
                  <a:pt x="152019" y="2032000"/>
                </a:lnTo>
                <a:lnTo>
                  <a:pt x="166116" y="2019300"/>
                </a:lnTo>
                <a:close/>
              </a:path>
              <a:path extrusionOk="0" h="2032000" w="212090">
                <a:moveTo>
                  <a:pt x="172338" y="2019300"/>
                </a:moveTo>
                <a:lnTo>
                  <a:pt x="166116" y="2019300"/>
                </a:lnTo>
                <a:lnTo>
                  <a:pt x="160908" y="2032000"/>
                </a:lnTo>
                <a:lnTo>
                  <a:pt x="167767" y="2032000"/>
                </a:lnTo>
                <a:lnTo>
                  <a:pt x="172338" y="2019300"/>
                </a:lnTo>
                <a:close/>
              </a:path>
              <a:path extrusionOk="0" h="2032000" w="212090">
                <a:moveTo>
                  <a:pt x="193167" y="2006600"/>
                </a:moveTo>
                <a:lnTo>
                  <a:pt x="46608" y="2006600"/>
                </a:lnTo>
                <a:lnTo>
                  <a:pt x="35178" y="2019300"/>
                </a:lnTo>
                <a:lnTo>
                  <a:pt x="181101" y="2019300"/>
                </a:lnTo>
                <a:lnTo>
                  <a:pt x="193167" y="2006600"/>
                </a:lnTo>
                <a:close/>
              </a:path>
              <a:path extrusionOk="0" h="2032000" w="212090">
                <a:moveTo>
                  <a:pt x="163575" y="1993900"/>
                </a:moveTo>
                <a:lnTo>
                  <a:pt x="156718" y="2006600"/>
                </a:lnTo>
                <a:lnTo>
                  <a:pt x="159257" y="2006600"/>
                </a:lnTo>
                <a:lnTo>
                  <a:pt x="163575" y="1993900"/>
                </a:lnTo>
                <a:close/>
              </a:path>
              <a:path extrusionOk="0" h="2032000" w="212090">
                <a:moveTo>
                  <a:pt x="169925" y="1993900"/>
                </a:moveTo>
                <a:lnTo>
                  <a:pt x="164973" y="1993900"/>
                </a:lnTo>
                <a:lnTo>
                  <a:pt x="159257" y="2006600"/>
                </a:lnTo>
                <a:lnTo>
                  <a:pt x="164592" y="2006600"/>
                </a:lnTo>
                <a:lnTo>
                  <a:pt x="169925" y="1993900"/>
                </a:lnTo>
                <a:close/>
              </a:path>
              <a:path extrusionOk="0" h="2032000" w="212090">
                <a:moveTo>
                  <a:pt x="171450" y="1993900"/>
                </a:moveTo>
                <a:lnTo>
                  <a:pt x="169925" y="1993900"/>
                </a:lnTo>
                <a:lnTo>
                  <a:pt x="164592" y="2006600"/>
                </a:lnTo>
                <a:lnTo>
                  <a:pt x="171450" y="1993900"/>
                </a:lnTo>
                <a:close/>
              </a:path>
              <a:path extrusionOk="0" h="2032000" w="212090">
                <a:moveTo>
                  <a:pt x="196596" y="1993900"/>
                </a:moveTo>
                <a:lnTo>
                  <a:pt x="171450" y="1993900"/>
                </a:lnTo>
                <a:lnTo>
                  <a:pt x="164592" y="2006600"/>
                </a:lnTo>
                <a:lnTo>
                  <a:pt x="196215" y="2006600"/>
                </a:lnTo>
                <a:lnTo>
                  <a:pt x="196596" y="1993900"/>
                </a:lnTo>
                <a:close/>
              </a:path>
              <a:path extrusionOk="0" h="2032000" w="212090">
                <a:moveTo>
                  <a:pt x="204470" y="1981200"/>
                </a:moveTo>
                <a:lnTo>
                  <a:pt x="174117" y="1981200"/>
                </a:lnTo>
                <a:lnTo>
                  <a:pt x="170560" y="1993900"/>
                </a:lnTo>
                <a:lnTo>
                  <a:pt x="201295" y="1993900"/>
                </a:lnTo>
                <a:lnTo>
                  <a:pt x="204470" y="1981200"/>
                </a:lnTo>
                <a:close/>
              </a:path>
              <a:path extrusionOk="0" h="2032000" w="212090">
                <a:moveTo>
                  <a:pt x="179450" y="1968500"/>
                </a:moveTo>
                <a:lnTo>
                  <a:pt x="176149" y="1981200"/>
                </a:lnTo>
                <a:lnTo>
                  <a:pt x="178943" y="1981200"/>
                </a:lnTo>
                <a:lnTo>
                  <a:pt x="179450" y="1968500"/>
                </a:lnTo>
                <a:close/>
              </a:path>
              <a:path extrusionOk="0" h="2032000" w="212090">
                <a:moveTo>
                  <a:pt x="196469" y="1536700"/>
                </a:moveTo>
                <a:lnTo>
                  <a:pt x="171703" y="1536700"/>
                </a:lnTo>
                <a:lnTo>
                  <a:pt x="174878" y="1574800"/>
                </a:lnTo>
                <a:lnTo>
                  <a:pt x="177165" y="1600200"/>
                </a:lnTo>
                <a:lnTo>
                  <a:pt x="179324" y="1638300"/>
                </a:lnTo>
                <a:lnTo>
                  <a:pt x="181355" y="1663700"/>
                </a:lnTo>
                <a:lnTo>
                  <a:pt x="183896" y="1689100"/>
                </a:lnTo>
                <a:lnTo>
                  <a:pt x="184784" y="1714500"/>
                </a:lnTo>
                <a:lnTo>
                  <a:pt x="184657" y="1765300"/>
                </a:lnTo>
                <a:lnTo>
                  <a:pt x="184530" y="1828800"/>
                </a:lnTo>
                <a:lnTo>
                  <a:pt x="185674" y="1854200"/>
                </a:lnTo>
                <a:lnTo>
                  <a:pt x="185674" y="1917700"/>
                </a:lnTo>
                <a:lnTo>
                  <a:pt x="184657" y="1930400"/>
                </a:lnTo>
                <a:lnTo>
                  <a:pt x="183515" y="1943100"/>
                </a:lnTo>
                <a:lnTo>
                  <a:pt x="181101" y="1955800"/>
                </a:lnTo>
                <a:lnTo>
                  <a:pt x="178943" y="1981200"/>
                </a:lnTo>
                <a:lnTo>
                  <a:pt x="204977" y="1981200"/>
                </a:lnTo>
                <a:lnTo>
                  <a:pt x="207136" y="1968500"/>
                </a:lnTo>
                <a:lnTo>
                  <a:pt x="209676" y="1955800"/>
                </a:lnTo>
                <a:lnTo>
                  <a:pt x="209803" y="1943100"/>
                </a:lnTo>
                <a:lnTo>
                  <a:pt x="210820" y="1930400"/>
                </a:lnTo>
                <a:lnTo>
                  <a:pt x="211962" y="1917700"/>
                </a:lnTo>
                <a:lnTo>
                  <a:pt x="212090" y="1917700"/>
                </a:lnTo>
                <a:lnTo>
                  <a:pt x="212090" y="1892300"/>
                </a:lnTo>
                <a:lnTo>
                  <a:pt x="211962" y="1866900"/>
                </a:lnTo>
                <a:lnTo>
                  <a:pt x="211962" y="1854200"/>
                </a:lnTo>
                <a:lnTo>
                  <a:pt x="210947" y="1828800"/>
                </a:lnTo>
                <a:lnTo>
                  <a:pt x="210820" y="1765300"/>
                </a:lnTo>
                <a:lnTo>
                  <a:pt x="210693" y="1714500"/>
                </a:lnTo>
                <a:lnTo>
                  <a:pt x="209550" y="1689100"/>
                </a:lnTo>
                <a:lnTo>
                  <a:pt x="206882" y="1663700"/>
                </a:lnTo>
                <a:lnTo>
                  <a:pt x="204597" y="1625600"/>
                </a:lnTo>
                <a:lnTo>
                  <a:pt x="202437" y="1600200"/>
                </a:lnTo>
                <a:lnTo>
                  <a:pt x="199771" y="1562100"/>
                </a:lnTo>
                <a:lnTo>
                  <a:pt x="196469" y="1536700"/>
                </a:lnTo>
                <a:close/>
              </a:path>
              <a:path extrusionOk="0" h="2032000" w="212090">
                <a:moveTo>
                  <a:pt x="172211" y="1358900"/>
                </a:moveTo>
                <a:lnTo>
                  <a:pt x="147700" y="1358900"/>
                </a:lnTo>
                <a:lnTo>
                  <a:pt x="157099" y="1435100"/>
                </a:lnTo>
                <a:lnTo>
                  <a:pt x="161290" y="1473200"/>
                </a:lnTo>
                <a:lnTo>
                  <a:pt x="165988" y="1511300"/>
                </a:lnTo>
                <a:lnTo>
                  <a:pt x="166116" y="1511300"/>
                </a:lnTo>
                <a:lnTo>
                  <a:pt x="171830" y="1536700"/>
                </a:lnTo>
                <a:lnTo>
                  <a:pt x="196342" y="1536700"/>
                </a:lnTo>
                <a:lnTo>
                  <a:pt x="190500" y="1498600"/>
                </a:lnTo>
                <a:lnTo>
                  <a:pt x="185927" y="1473200"/>
                </a:lnTo>
                <a:lnTo>
                  <a:pt x="181482" y="1435100"/>
                </a:lnTo>
                <a:lnTo>
                  <a:pt x="176783" y="1397000"/>
                </a:lnTo>
                <a:lnTo>
                  <a:pt x="172211" y="1358900"/>
                </a:lnTo>
                <a:close/>
              </a:path>
              <a:path extrusionOk="0" h="2032000" w="212090">
                <a:moveTo>
                  <a:pt x="149225" y="1155700"/>
                </a:moveTo>
                <a:lnTo>
                  <a:pt x="124586" y="1155700"/>
                </a:lnTo>
                <a:lnTo>
                  <a:pt x="128270" y="1206500"/>
                </a:lnTo>
                <a:lnTo>
                  <a:pt x="131445" y="1244600"/>
                </a:lnTo>
                <a:lnTo>
                  <a:pt x="136144" y="1282700"/>
                </a:lnTo>
                <a:lnTo>
                  <a:pt x="141985" y="1320800"/>
                </a:lnTo>
                <a:lnTo>
                  <a:pt x="147827" y="1358900"/>
                </a:lnTo>
                <a:lnTo>
                  <a:pt x="172084" y="1358900"/>
                </a:lnTo>
                <a:lnTo>
                  <a:pt x="160654" y="1282700"/>
                </a:lnTo>
                <a:lnTo>
                  <a:pt x="155955" y="1244600"/>
                </a:lnTo>
                <a:lnTo>
                  <a:pt x="152780" y="1193800"/>
                </a:lnTo>
                <a:lnTo>
                  <a:pt x="149225" y="1155700"/>
                </a:lnTo>
                <a:close/>
              </a:path>
              <a:path extrusionOk="0" h="2032000" w="212090">
                <a:moveTo>
                  <a:pt x="146938" y="190500"/>
                </a:moveTo>
                <a:lnTo>
                  <a:pt x="122554" y="190500"/>
                </a:lnTo>
                <a:lnTo>
                  <a:pt x="121030" y="228600"/>
                </a:lnTo>
                <a:lnTo>
                  <a:pt x="118872" y="254000"/>
                </a:lnTo>
                <a:lnTo>
                  <a:pt x="116585" y="279400"/>
                </a:lnTo>
                <a:lnTo>
                  <a:pt x="114173" y="317500"/>
                </a:lnTo>
                <a:lnTo>
                  <a:pt x="112013" y="342900"/>
                </a:lnTo>
                <a:lnTo>
                  <a:pt x="109854" y="381000"/>
                </a:lnTo>
                <a:lnTo>
                  <a:pt x="107315" y="431800"/>
                </a:lnTo>
                <a:lnTo>
                  <a:pt x="103758" y="457200"/>
                </a:lnTo>
                <a:lnTo>
                  <a:pt x="100456" y="508000"/>
                </a:lnTo>
                <a:lnTo>
                  <a:pt x="96138" y="584200"/>
                </a:lnTo>
                <a:lnTo>
                  <a:pt x="93599" y="622300"/>
                </a:lnTo>
                <a:lnTo>
                  <a:pt x="92455" y="673100"/>
                </a:lnTo>
                <a:lnTo>
                  <a:pt x="91440" y="711200"/>
                </a:lnTo>
                <a:lnTo>
                  <a:pt x="92455" y="749300"/>
                </a:lnTo>
                <a:lnTo>
                  <a:pt x="93599" y="800100"/>
                </a:lnTo>
                <a:lnTo>
                  <a:pt x="96138" y="838200"/>
                </a:lnTo>
                <a:lnTo>
                  <a:pt x="98298" y="876300"/>
                </a:lnTo>
                <a:lnTo>
                  <a:pt x="101600" y="914400"/>
                </a:lnTo>
                <a:lnTo>
                  <a:pt x="105155" y="952500"/>
                </a:lnTo>
                <a:lnTo>
                  <a:pt x="108838" y="1003300"/>
                </a:lnTo>
                <a:lnTo>
                  <a:pt x="112013" y="1041400"/>
                </a:lnTo>
                <a:lnTo>
                  <a:pt x="115697" y="1079500"/>
                </a:lnTo>
                <a:lnTo>
                  <a:pt x="120396" y="1117600"/>
                </a:lnTo>
                <a:lnTo>
                  <a:pt x="124713" y="1155700"/>
                </a:lnTo>
                <a:lnTo>
                  <a:pt x="149098" y="1155700"/>
                </a:lnTo>
                <a:lnTo>
                  <a:pt x="144779" y="1117600"/>
                </a:lnTo>
                <a:lnTo>
                  <a:pt x="140080" y="1079500"/>
                </a:lnTo>
                <a:lnTo>
                  <a:pt x="136525" y="1041400"/>
                </a:lnTo>
                <a:lnTo>
                  <a:pt x="133350" y="1003300"/>
                </a:lnTo>
                <a:lnTo>
                  <a:pt x="129794" y="952500"/>
                </a:lnTo>
                <a:lnTo>
                  <a:pt x="126110" y="914400"/>
                </a:lnTo>
                <a:lnTo>
                  <a:pt x="122935" y="876300"/>
                </a:lnTo>
                <a:lnTo>
                  <a:pt x="120776" y="838200"/>
                </a:lnTo>
                <a:lnTo>
                  <a:pt x="118236" y="800100"/>
                </a:lnTo>
                <a:lnTo>
                  <a:pt x="117221" y="749300"/>
                </a:lnTo>
                <a:lnTo>
                  <a:pt x="116204" y="711200"/>
                </a:lnTo>
                <a:lnTo>
                  <a:pt x="117221" y="673100"/>
                </a:lnTo>
                <a:lnTo>
                  <a:pt x="118363" y="622300"/>
                </a:lnTo>
                <a:lnTo>
                  <a:pt x="118871" y="622300"/>
                </a:lnTo>
                <a:lnTo>
                  <a:pt x="120776" y="584200"/>
                </a:lnTo>
                <a:lnTo>
                  <a:pt x="125095" y="508000"/>
                </a:lnTo>
                <a:lnTo>
                  <a:pt x="128397" y="469900"/>
                </a:lnTo>
                <a:lnTo>
                  <a:pt x="131952" y="431800"/>
                </a:lnTo>
                <a:lnTo>
                  <a:pt x="134493" y="381000"/>
                </a:lnTo>
                <a:lnTo>
                  <a:pt x="136651" y="355600"/>
                </a:lnTo>
                <a:lnTo>
                  <a:pt x="138810" y="317500"/>
                </a:lnTo>
                <a:lnTo>
                  <a:pt x="141350" y="279400"/>
                </a:lnTo>
                <a:lnTo>
                  <a:pt x="143382" y="254000"/>
                </a:lnTo>
                <a:lnTo>
                  <a:pt x="145542" y="228600"/>
                </a:lnTo>
                <a:lnTo>
                  <a:pt x="146938" y="190500"/>
                </a:lnTo>
                <a:close/>
              </a:path>
              <a:path extrusionOk="0" h="2032000" w="212090">
                <a:moveTo>
                  <a:pt x="118871" y="622300"/>
                </a:moveTo>
                <a:lnTo>
                  <a:pt x="118363" y="622300"/>
                </a:lnTo>
                <a:lnTo>
                  <a:pt x="118236" y="635000"/>
                </a:lnTo>
                <a:lnTo>
                  <a:pt x="118871" y="622300"/>
                </a:lnTo>
                <a:close/>
              </a:path>
              <a:path extrusionOk="0" h="2032000" w="212090">
                <a:moveTo>
                  <a:pt x="147066" y="165100"/>
                </a:moveTo>
                <a:lnTo>
                  <a:pt x="122427" y="165100"/>
                </a:lnTo>
                <a:lnTo>
                  <a:pt x="122427" y="190500"/>
                </a:lnTo>
                <a:lnTo>
                  <a:pt x="147066" y="190500"/>
                </a:lnTo>
                <a:lnTo>
                  <a:pt x="147066" y="165100"/>
                </a:lnTo>
                <a:close/>
              </a:path>
              <a:path extrusionOk="0" h="2032000" w="212090">
                <a:moveTo>
                  <a:pt x="148590" y="38100"/>
                </a:moveTo>
                <a:lnTo>
                  <a:pt x="125095" y="38100"/>
                </a:lnTo>
                <a:lnTo>
                  <a:pt x="126110" y="50800"/>
                </a:lnTo>
                <a:lnTo>
                  <a:pt x="125983" y="63500"/>
                </a:lnTo>
                <a:lnTo>
                  <a:pt x="125856" y="88900"/>
                </a:lnTo>
                <a:lnTo>
                  <a:pt x="124713" y="101600"/>
                </a:lnTo>
                <a:lnTo>
                  <a:pt x="123571" y="127000"/>
                </a:lnTo>
                <a:lnTo>
                  <a:pt x="123571" y="139700"/>
                </a:lnTo>
                <a:lnTo>
                  <a:pt x="122554" y="165100"/>
                </a:lnTo>
                <a:lnTo>
                  <a:pt x="146938" y="165100"/>
                </a:lnTo>
                <a:lnTo>
                  <a:pt x="148081" y="139700"/>
                </a:lnTo>
                <a:lnTo>
                  <a:pt x="148081" y="127000"/>
                </a:lnTo>
                <a:lnTo>
                  <a:pt x="149098" y="101600"/>
                </a:lnTo>
                <a:lnTo>
                  <a:pt x="150113" y="88900"/>
                </a:lnTo>
                <a:lnTo>
                  <a:pt x="149986" y="63500"/>
                </a:lnTo>
                <a:lnTo>
                  <a:pt x="149859" y="50800"/>
                </a:lnTo>
                <a:lnTo>
                  <a:pt x="148590" y="38100"/>
                </a:lnTo>
                <a:close/>
              </a:path>
              <a:path extrusionOk="0" h="2032000" w="212090">
                <a:moveTo>
                  <a:pt x="41275" y="25400"/>
                </a:moveTo>
                <a:lnTo>
                  <a:pt x="39116" y="25400"/>
                </a:lnTo>
                <a:lnTo>
                  <a:pt x="28575" y="38100"/>
                </a:lnTo>
                <a:lnTo>
                  <a:pt x="30987" y="38100"/>
                </a:lnTo>
                <a:lnTo>
                  <a:pt x="41275" y="25400"/>
                </a:lnTo>
                <a:close/>
              </a:path>
              <a:path extrusionOk="0" h="2032000" w="212090">
                <a:moveTo>
                  <a:pt x="59308" y="25400"/>
                </a:moveTo>
                <a:lnTo>
                  <a:pt x="41275" y="25400"/>
                </a:lnTo>
                <a:lnTo>
                  <a:pt x="33147" y="38100"/>
                </a:lnTo>
                <a:lnTo>
                  <a:pt x="49529" y="38100"/>
                </a:lnTo>
                <a:lnTo>
                  <a:pt x="59308" y="25400"/>
                </a:lnTo>
                <a:close/>
              </a:path>
              <a:path extrusionOk="0" h="2032000" w="212090">
                <a:moveTo>
                  <a:pt x="120527" y="29868"/>
                </a:moveTo>
                <a:lnTo>
                  <a:pt x="122174" y="38100"/>
                </a:lnTo>
                <a:lnTo>
                  <a:pt x="126619" y="38100"/>
                </a:lnTo>
                <a:lnTo>
                  <a:pt x="120527" y="29868"/>
                </a:lnTo>
                <a:close/>
              </a:path>
              <a:path extrusionOk="0" h="2032000" w="212090">
                <a:moveTo>
                  <a:pt x="119633" y="25400"/>
                </a:moveTo>
                <a:lnTo>
                  <a:pt x="120527" y="29868"/>
                </a:lnTo>
                <a:lnTo>
                  <a:pt x="126619" y="38100"/>
                </a:lnTo>
                <a:lnTo>
                  <a:pt x="119633" y="25400"/>
                </a:lnTo>
                <a:close/>
              </a:path>
              <a:path extrusionOk="0" h="2032000" w="212090">
                <a:moveTo>
                  <a:pt x="145542" y="25400"/>
                </a:moveTo>
                <a:lnTo>
                  <a:pt x="119633" y="25400"/>
                </a:lnTo>
                <a:lnTo>
                  <a:pt x="126619" y="38100"/>
                </a:lnTo>
                <a:lnTo>
                  <a:pt x="147827" y="38100"/>
                </a:lnTo>
                <a:lnTo>
                  <a:pt x="145542" y="25400"/>
                </a:lnTo>
                <a:close/>
              </a:path>
              <a:path extrusionOk="0" h="2032000" w="212090">
                <a:moveTo>
                  <a:pt x="119633" y="25400"/>
                </a:moveTo>
                <a:lnTo>
                  <a:pt x="117221" y="25400"/>
                </a:lnTo>
                <a:lnTo>
                  <a:pt x="120527" y="29868"/>
                </a:lnTo>
                <a:lnTo>
                  <a:pt x="119633" y="25400"/>
                </a:lnTo>
                <a:close/>
              </a:path>
              <a:path extrusionOk="0" h="2032000" w="212090">
                <a:moveTo>
                  <a:pt x="30987" y="12700"/>
                </a:moveTo>
                <a:lnTo>
                  <a:pt x="28575" y="12700"/>
                </a:lnTo>
                <a:lnTo>
                  <a:pt x="19938" y="25400"/>
                </a:lnTo>
                <a:lnTo>
                  <a:pt x="23241" y="25400"/>
                </a:lnTo>
                <a:lnTo>
                  <a:pt x="30987" y="12700"/>
                </a:lnTo>
                <a:close/>
              </a:path>
              <a:path extrusionOk="0" h="2032000" w="212090">
                <a:moveTo>
                  <a:pt x="140334" y="12700"/>
                </a:moveTo>
                <a:lnTo>
                  <a:pt x="33147" y="12700"/>
                </a:lnTo>
                <a:lnTo>
                  <a:pt x="23241" y="25400"/>
                </a:lnTo>
                <a:lnTo>
                  <a:pt x="143001" y="25400"/>
                </a:lnTo>
                <a:lnTo>
                  <a:pt x="140334" y="12700"/>
                </a:lnTo>
                <a:close/>
              </a:path>
              <a:path extrusionOk="0" h="2032000" w="212090">
                <a:moveTo>
                  <a:pt x="121157" y="0"/>
                </a:moveTo>
                <a:lnTo>
                  <a:pt x="65404" y="0"/>
                </a:lnTo>
                <a:lnTo>
                  <a:pt x="60071" y="12700"/>
                </a:lnTo>
                <a:lnTo>
                  <a:pt x="132333" y="12700"/>
                </a:lnTo>
                <a:lnTo>
                  <a:pt x="12115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7" name="Google Shape;97;p4"/>
          <p:cNvSpPr/>
          <p:nvPr/>
        </p:nvSpPr>
        <p:spPr>
          <a:xfrm>
            <a:off x="10135361" y="2750692"/>
            <a:ext cx="124460" cy="2019300"/>
          </a:xfrm>
          <a:custGeom>
            <a:rect b="b" l="l" r="r" t="t"/>
            <a:pathLst>
              <a:path extrusionOk="0" h="2019300" w="124459">
                <a:moveTo>
                  <a:pt x="79756" y="2006599"/>
                </a:moveTo>
                <a:lnTo>
                  <a:pt x="14732" y="2006599"/>
                </a:lnTo>
                <a:lnTo>
                  <a:pt x="17145" y="2019299"/>
                </a:lnTo>
                <a:lnTo>
                  <a:pt x="71755" y="2019299"/>
                </a:lnTo>
                <a:lnTo>
                  <a:pt x="79756" y="2006599"/>
                </a:lnTo>
                <a:close/>
              </a:path>
              <a:path extrusionOk="0" h="2019300" w="124459">
                <a:moveTo>
                  <a:pt x="41783" y="1993899"/>
                </a:moveTo>
                <a:lnTo>
                  <a:pt x="6604" y="1993899"/>
                </a:lnTo>
                <a:lnTo>
                  <a:pt x="7747" y="2006599"/>
                </a:lnTo>
                <a:lnTo>
                  <a:pt x="46101" y="2006599"/>
                </a:lnTo>
                <a:lnTo>
                  <a:pt x="46670" y="2004761"/>
                </a:lnTo>
                <a:lnTo>
                  <a:pt x="41783" y="1993899"/>
                </a:lnTo>
                <a:close/>
              </a:path>
              <a:path extrusionOk="0" h="2019300" w="124459">
                <a:moveTo>
                  <a:pt x="46863" y="2005188"/>
                </a:moveTo>
                <a:lnTo>
                  <a:pt x="46101" y="2006599"/>
                </a:lnTo>
                <a:lnTo>
                  <a:pt x="47498" y="2006599"/>
                </a:lnTo>
                <a:lnTo>
                  <a:pt x="46863" y="2005188"/>
                </a:lnTo>
                <a:close/>
              </a:path>
              <a:path extrusionOk="0" h="2019300" w="124459">
                <a:moveTo>
                  <a:pt x="104521" y="1981199"/>
                </a:moveTo>
                <a:lnTo>
                  <a:pt x="82931" y="1981199"/>
                </a:lnTo>
                <a:lnTo>
                  <a:pt x="73279" y="1993899"/>
                </a:lnTo>
                <a:lnTo>
                  <a:pt x="52959" y="1993899"/>
                </a:lnTo>
                <a:lnTo>
                  <a:pt x="47093" y="2004761"/>
                </a:lnTo>
                <a:lnTo>
                  <a:pt x="47032" y="2005188"/>
                </a:lnTo>
                <a:lnTo>
                  <a:pt x="47498" y="2006599"/>
                </a:lnTo>
                <a:lnTo>
                  <a:pt x="87122" y="2006599"/>
                </a:lnTo>
                <a:lnTo>
                  <a:pt x="96139" y="1993899"/>
                </a:lnTo>
                <a:lnTo>
                  <a:pt x="104521" y="1981199"/>
                </a:lnTo>
                <a:close/>
              </a:path>
              <a:path extrusionOk="0" h="2019300" w="124459">
                <a:moveTo>
                  <a:pt x="46777" y="2004417"/>
                </a:moveTo>
                <a:lnTo>
                  <a:pt x="46775" y="2004994"/>
                </a:lnTo>
                <a:lnTo>
                  <a:pt x="46863" y="2005188"/>
                </a:lnTo>
                <a:lnTo>
                  <a:pt x="46777" y="2004417"/>
                </a:lnTo>
                <a:close/>
              </a:path>
              <a:path extrusionOk="0" h="2019300" w="124459">
                <a:moveTo>
                  <a:pt x="50038" y="1993899"/>
                </a:moveTo>
                <a:lnTo>
                  <a:pt x="43307" y="1993899"/>
                </a:lnTo>
                <a:lnTo>
                  <a:pt x="46777" y="2004417"/>
                </a:lnTo>
                <a:lnTo>
                  <a:pt x="50038" y="1993899"/>
                </a:lnTo>
                <a:close/>
              </a:path>
              <a:path extrusionOk="0" h="2019300" w="124459">
                <a:moveTo>
                  <a:pt x="28829" y="1981199"/>
                </a:moveTo>
                <a:lnTo>
                  <a:pt x="2794" y="1981199"/>
                </a:lnTo>
                <a:lnTo>
                  <a:pt x="3810" y="1993899"/>
                </a:lnTo>
                <a:lnTo>
                  <a:pt x="30226" y="1993899"/>
                </a:lnTo>
                <a:lnTo>
                  <a:pt x="28829" y="1981199"/>
                </a:lnTo>
                <a:close/>
              </a:path>
              <a:path extrusionOk="0" h="2019300" w="124459">
                <a:moveTo>
                  <a:pt x="26416" y="1968499"/>
                </a:moveTo>
                <a:lnTo>
                  <a:pt x="1397" y="1968499"/>
                </a:lnTo>
                <a:lnTo>
                  <a:pt x="1270" y="1981199"/>
                </a:lnTo>
                <a:lnTo>
                  <a:pt x="26924" y="1981199"/>
                </a:lnTo>
                <a:lnTo>
                  <a:pt x="26416" y="1968499"/>
                </a:lnTo>
                <a:close/>
              </a:path>
              <a:path extrusionOk="0" h="2019300" w="124459">
                <a:moveTo>
                  <a:pt x="26416" y="1968499"/>
                </a:moveTo>
                <a:lnTo>
                  <a:pt x="26924" y="1981199"/>
                </a:lnTo>
                <a:lnTo>
                  <a:pt x="26924" y="1972733"/>
                </a:lnTo>
                <a:lnTo>
                  <a:pt x="26416" y="1968499"/>
                </a:lnTo>
                <a:close/>
              </a:path>
              <a:path extrusionOk="0" h="2019300" w="124459">
                <a:moveTo>
                  <a:pt x="26924" y="1972733"/>
                </a:moveTo>
                <a:lnTo>
                  <a:pt x="26924" y="1981199"/>
                </a:lnTo>
                <a:lnTo>
                  <a:pt x="27940" y="1981199"/>
                </a:lnTo>
                <a:lnTo>
                  <a:pt x="26924" y="1972733"/>
                </a:lnTo>
                <a:close/>
              </a:path>
              <a:path extrusionOk="0" h="2019300" w="124459">
                <a:moveTo>
                  <a:pt x="92837" y="1968499"/>
                </a:moveTo>
                <a:lnTo>
                  <a:pt x="82677" y="1981199"/>
                </a:lnTo>
                <a:lnTo>
                  <a:pt x="92202" y="1981199"/>
                </a:lnTo>
                <a:lnTo>
                  <a:pt x="92837" y="1968499"/>
                </a:lnTo>
                <a:close/>
              </a:path>
              <a:path extrusionOk="0" h="2019300" w="124459">
                <a:moveTo>
                  <a:pt x="26924" y="1968499"/>
                </a:moveTo>
                <a:lnTo>
                  <a:pt x="26416" y="1968499"/>
                </a:lnTo>
                <a:lnTo>
                  <a:pt x="26924" y="1972733"/>
                </a:lnTo>
                <a:lnTo>
                  <a:pt x="26924" y="1968499"/>
                </a:lnTo>
                <a:close/>
              </a:path>
              <a:path extrusionOk="0" h="2019300" w="124459">
                <a:moveTo>
                  <a:pt x="1651" y="1894416"/>
                </a:moveTo>
                <a:lnTo>
                  <a:pt x="254" y="1917699"/>
                </a:lnTo>
                <a:lnTo>
                  <a:pt x="127" y="1943099"/>
                </a:lnTo>
                <a:lnTo>
                  <a:pt x="0" y="1955799"/>
                </a:lnTo>
                <a:lnTo>
                  <a:pt x="0" y="1968499"/>
                </a:lnTo>
                <a:lnTo>
                  <a:pt x="25400" y="1968499"/>
                </a:lnTo>
                <a:lnTo>
                  <a:pt x="25146" y="1955799"/>
                </a:lnTo>
                <a:lnTo>
                  <a:pt x="25400" y="1955799"/>
                </a:lnTo>
                <a:lnTo>
                  <a:pt x="25273" y="1930399"/>
                </a:lnTo>
                <a:lnTo>
                  <a:pt x="25146" y="1917699"/>
                </a:lnTo>
                <a:lnTo>
                  <a:pt x="26543" y="1904999"/>
                </a:lnTo>
                <a:lnTo>
                  <a:pt x="1651" y="1904999"/>
                </a:lnTo>
                <a:lnTo>
                  <a:pt x="1651" y="1894416"/>
                </a:lnTo>
                <a:close/>
              </a:path>
              <a:path extrusionOk="0" h="2019300" w="124459">
                <a:moveTo>
                  <a:pt x="25146" y="1955799"/>
                </a:moveTo>
                <a:lnTo>
                  <a:pt x="25400" y="1968499"/>
                </a:lnTo>
                <a:lnTo>
                  <a:pt x="25400" y="1957916"/>
                </a:lnTo>
                <a:lnTo>
                  <a:pt x="25146" y="1955799"/>
                </a:lnTo>
                <a:close/>
              </a:path>
              <a:path extrusionOk="0" h="2019300" w="124459">
                <a:moveTo>
                  <a:pt x="25400" y="1957916"/>
                </a:moveTo>
                <a:lnTo>
                  <a:pt x="25400" y="1968499"/>
                </a:lnTo>
                <a:lnTo>
                  <a:pt x="26670" y="1968499"/>
                </a:lnTo>
                <a:lnTo>
                  <a:pt x="25400" y="1957916"/>
                </a:lnTo>
                <a:close/>
              </a:path>
              <a:path extrusionOk="0" h="2019300" w="124459">
                <a:moveTo>
                  <a:pt x="25400" y="1955799"/>
                </a:moveTo>
                <a:lnTo>
                  <a:pt x="25146" y="1955799"/>
                </a:lnTo>
                <a:lnTo>
                  <a:pt x="25400" y="1957916"/>
                </a:lnTo>
                <a:lnTo>
                  <a:pt x="25400" y="1955799"/>
                </a:lnTo>
                <a:close/>
              </a:path>
              <a:path extrusionOk="0" h="2019300" w="124459">
                <a:moveTo>
                  <a:pt x="26543" y="1892299"/>
                </a:moveTo>
                <a:lnTo>
                  <a:pt x="1778" y="1892299"/>
                </a:lnTo>
                <a:lnTo>
                  <a:pt x="1651" y="1904999"/>
                </a:lnTo>
                <a:lnTo>
                  <a:pt x="26543" y="1904999"/>
                </a:lnTo>
                <a:lnTo>
                  <a:pt x="26543" y="1892299"/>
                </a:lnTo>
                <a:close/>
              </a:path>
              <a:path extrusionOk="0" h="2019300" w="124459">
                <a:moveTo>
                  <a:pt x="58801" y="711200"/>
                </a:moveTo>
                <a:lnTo>
                  <a:pt x="35687" y="711200"/>
                </a:lnTo>
                <a:lnTo>
                  <a:pt x="38227" y="736600"/>
                </a:lnTo>
                <a:lnTo>
                  <a:pt x="38100" y="736600"/>
                </a:lnTo>
                <a:lnTo>
                  <a:pt x="40259" y="762000"/>
                </a:lnTo>
                <a:lnTo>
                  <a:pt x="41656" y="787400"/>
                </a:lnTo>
                <a:lnTo>
                  <a:pt x="43815" y="825500"/>
                </a:lnTo>
                <a:lnTo>
                  <a:pt x="44831" y="850900"/>
                </a:lnTo>
                <a:lnTo>
                  <a:pt x="45974" y="876299"/>
                </a:lnTo>
                <a:lnTo>
                  <a:pt x="47371" y="914399"/>
                </a:lnTo>
                <a:lnTo>
                  <a:pt x="48514" y="939799"/>
                </a:lnTo>
                <a:lnTo>
                  <a:pt x="48514" y="1003299"/>
                </a:lnTo>
                <a:lnTo>
                  <a:pt x="47371" y="1041399"/>
                </a:lnTo>
                <a:lnTo>
                  <a:pt x="44831" y="1066799"/>
                </a:lnTo>
                <a:lnTo>
                  <a:pt x="43688" y="1104899"/>
                </a:lnTo>
                <a:lnTo>
                  <a:pt x="42291" y="1130299"/>
                </a:lnTo>
                <a:lnTo>
                  <a:pt x="41529" y="1168399"/>
                </a:lnTo>
                <a:lnTo>
                  <a:pt x="39116" y="1206499"/>
                </a:lnTo>
                <a:lnTo>
                  <a:pt x="36957" y="1231899"/>
                </a:lnTo>
                <a:lnTo>
                  <a:pt x="34798" y="1269999"/>
                </a:lnTo>
                <a:lnTo>
                  <a:pt x="32258" y="1333499"/>
                </a:lnTo>
                <a:lnTo>
                  <a:pt x="27940" y="1409699"/>
                </a:lnTo>
                <a:lnTo>
                  <a:pt x="25400" y="1447799"/>
                </a:lnTo>
                <a:lnTo>
                  <a:pt x="22860" y="1473199"/>
                </a:lnTo>
                <a:lnTo>
                  <a:pt x="20701" y="1511299"/>
                </a:lnTo>
                <a:lnTo>
                  <a:pt x="20574" y="1511299"/>
                </a:lnTo>
                <a:lnTo>
                  <a:pt x="19558" y="1536699"/>
                </a:lnTo>
                <a:lnTo>
                  <a:pt x="17399" y="1574799"/>
                </a:lnTo>
                <a:lnTo>
                  <a:pt x="14732" y="1612899"/>
                </a:lnTo>
                <a:lnTo>
                  <a:pt x="12573" y="1638299"/>
                </a:lnTo>
                <a:lnTo>
                  <a:pt x="11049" y="1676399"/>
                </a:lnTo>
                <a:lnTo>
                  <a:pt x="10287" y="1701799"/>
                </a:lnTo>
                <a:lnTo>
                  <a:pt x="8763" y="1727199"/>
                </a:lnTo>
                <a:lnTo>
                  <a:pt x="7747" y="1752599"/>
                </a:lnTo>
                <a:lnTo>
                  <a:pt x="5461" y="1803399"/>
                </a:lnTo>
                <a:lnTo>
                  <a:pt x="3937" y="1828799"/>
                </a:lnTo>
                <a:lnTo>
                  <a:pt x="3175" y="1854199"/>
                </a:lnTo>
                <a:lnTo>
                  <a:pt x="3302" y="1854199"/>
                </a:lnTo>
                <a:lnTo>
                  <a:pt x="1778" y="1879599"/>
                </a:lnTo>
                <a:lnTo>
                  <a:pt x="1651" y="1894416"/>
                </a:lnTo>
                <a:lnTo>
                  <a:pt x="1778" y="1892299"/>
                </a:lnTo>
                <a:lnTo>
                  <a:pt x="26543" y="1892299"/>
                </a:lnTo>
                <a:lnTo>
                  <a:pt x="26543" y="1879599"/>
                </a:lnTo>
                <a:lnTo>
                  <a:pt x="27940" y="1854199"/>
                </a:lnTo>
                <a:lnTo>
                  <a:pt x="28575" y="1828799"/>
                </a:lnTo>
                <a:lnTo>
                  <a:pt x="29040" y="1828799"/>
                </a:lnTo>
                <a:lnTo>
                  <a:pt x="29972" y="1803399"/>
                </a:lnTo>
                <a:lnTo>
                  <a:pt x="31115" y="1777999"/>
                </a:lnTo>
                <a:lnTo>
                  <a:pt x="32131" y="1765299"/>
                </a:lnTo>
                <a:lnTo>
                  <a:pt x="33147" y="1727199"/>
                </a:lnTo>
                <a:lnTo>
                  <a:pt x="34544" y="1701799"/>
                </a:lnTo>
                <a:lnTo>
                  <a:pt x="35179" y="1676399"/>
                </a:lnTo>
                <a:lnTo>
                  <a:pt x="36576" y="1638299"/>
                </a:lnTo>
                <a:lnTo>
                  <a:pt x="38735" y="1612899"/>
                </a:lnTo>
                <a:lnTo>
                  <a:pt x="41148" y="1574799"/>
                </a:lnTo>
                <a:lnTo>
                  <a:pt x="43307" y="1536699"/>
                </a:lnTo>
                <a:lnTo>
                  <a:pt x="44323" y="1511299"/>
                </a:lnTo>
                <a:lnTo>
                  <a:pt x="46482" y="1473199"/>
                </a:lnTo>
                <a:lnTo>
                  <a:pt x="49022" y="1447799"/>
                </a:lnTo>
                <a:lnTo>
                  <a:pt x="51435" y="1409699"/>
                </a:lnTo>
                <a:lnTo>
                  <a:pt x="55753" y="1333499"/>
                </a:lnTo>
                <a:lnTo>
                  <a:pt x="56896" y="1308099"/>
                </a:lnTo>
                <a:lnTo>
                  <a:pt x="58293" y="1269999"/>
                </a:lnTo>
                <a:lnTo>
                  <a:pt x="60452" y="1244599"/>
                </a:lnTo>
                <a:lnTo>
                  <a:pt x="62611" y="1206499"/>
                </a:lnTo>
                <a:lnTo>
                  <a:pt x="65151" y="1168399"/>
                </a:lnTo>
                <a:lnTo>
                  <a:pt x="65913" y="1130299"/>
                </a:lnTo>
                <a:lnTo>
                  <a:pt x="66378" y="1130299"/>
                </a:lnTo>
                <a:lnTo>
                  <a:pt x="67310" y="1104899"/>
                </a:lnTo>
                <a:lnTo>
                  <a:pt x="68453" y="1066799"/>
                </a:lnTo>
                <a:lnTo>
                  <a:pt x="70866" y="1041399"/>
                </a:lnTo>
                <a:lnTo>
                  <a:pt x="72009" y="1003299"/>
                </a:lnTo>
                <a:lnTo>
                  <a:pt x="72009" y="939799"/>
                </a:lnTo>
                <a:lnTo>
                  <a:pt x="70866" y="914399"/>
                </a:lnTo>
                <a:lnTo>
                  <a:pt x="69469" y="876299"/>
                </a:lnTo>
                <a:lnTo>
                  <a:pt x="67310" y="825500"/>
                </a:lnTo>
                <a:lnTo>
                  <a:pt x="65024" y="787400"/>
                </a:lnTo>
                <a:lnTo>
                  <a:pt x="63627" y="762000"/>
                </a:lnTo>
                <a:lnTo>
                  <a:pt x="61341" y="736600"/>
                </a:lnTo>
                <a:lnTo>
                  <a:pt x="58801" y="711200"/>
                </a:lnTo>
                <a:close/>
              </a:path>
              <a:path extrusionOk="0" h="2019300" w="124459">
                <a:moveTo>
                  <a:pt x="29040" y="1828799"/>
                </a:moveTo>
                <a:lnTo>
                  <a:pt x="28575" y="1828799"/>
                </a:lnTo>
                <a:lnTo>
                  <a:pt x="28575" y="1841499"/>
                </a:lnTo>
                <a:lnTo>
                  <a:pt x="29040" y="1828799"/>
                </a:lnTo>
                <a:close/>
              </a:path>
              <a:path extrusionOk="0" h="2019300" w="124459">
                <a:moveTo>
                  <a:pt x="66378" y="1130299"/>
                </a:moveTo>
                <a:lnTo>
                  <a:pt x="65913" y="1130299"/>
                </a:lnTo>
                <a:lnTo>
                  <a:pt x="65913" y="1142999"/>
                </a:lnTo>
                <a:lnTo>
                  <a:pt x="66378" y="1130299"/>
                </a:lnTo>
                <a:close/>
              </a:path>
              <a:path extrusionOk="0" h="2019300" w="124459">
                <a:moveTo>
                  <a:pt x="37846" y="76200"/>
                </a:moveTo>
                <a:lnTo>
                  <a:pt x="15621" y="76200"/>
                </a:lnTo>
                <a:lnTo>
                  <a:pt x="14478" y="88900"/>
                </a:lnTo>
                <a:lnTo>
                  <a:pt x="13462" y="101600"/>
                </a:lnTo>
                <a:lnTo>
                  <a:pt x="11938" y="127000"/>
                </a:lnTo>
                <a:lnTo>
                  <a:pt x="11938" y="165100"/>
                </a:lnTo>
                <a:lnTo>
                  <a:pt x="13335" y="190500"/>
                </a:lnTo>
                <a:lnTo>
                  <a:pt x="13335" y="292100"/>
                </a:lnTo>
                <a:lnTo>
                  <a:pt x="14351" y="317500"/>
                </a:lnTo>
                <a:lnTo>
                  <a:pt x="16510" y="342900"/>
                </a:lnTo>
                <a:lnTo>
                  <a:pt x="18542" y="368300"/>
                </a:lnTo>
                <a:lnTo>
                  <a:pt x="19939" y="393700"/>
                </a:lnTo>
                <a:lnTo>
                  <a:pt x="22098" y="431800"/>
                </a:lnTo>
                <a:lnTo>
                  <a:pt x="24638" y="457200"/>
                </a:lnTo>
                <a:lnTo>
                  <a:pt x="26797" y="482600"/>
                </a:lnTo>
                <a:lnTo>
                  <a:pt x="28067" y="520700"/>
                </a:lnTo>
                <a:lnTo>
                  <a:pt x="30353" y="546100"/>
                </a:lnTo>
                <a:lnTo>
                  <a:pt x="31369" y="584200"/>
                </a:lnTo>
                <a:lnTo>
                  <a:pt x="32385" y="609600"/>
                </a:lnTo>
                <a:lnTo>
                  <a:pt x="33401" y="647700"/>
                </a:lnTo>
                <a:lnTo>
                  <a:pt x="34925" y="673100"/>
                </a:lnTo>
                <a:lnTo>
                  <a:pt x="35560" y="711200"/>
                </a:lnTo>
                <a:lnTo>
                  <a:pt x="58928" y="711200"/>
                </a:lnTo>
                <a:lnTo>
                  <a:pt x="58166" y="673100"/>
                </a:lnTo>
                <a:lnTo>
                  <a:pt x="56769" y="647700"/>
                </a:lnTo>
                <a:lnTo>
                  <a:pt x="55626" y="609600"/>
                </a:lnTo>
                <a:lnTo>
                  <a:pt x="54483" y="584200"/>
                </a:lnTo>
                <a:lnTo>
                  <a:pt x="53467" y="546100"/>
                </a:lnTo>
                <a:lnTo>
                  <a:pt x="51308" y="520700"/>
                </a:lnTo>
                <a:lnTo>
                  <a:pt x="49784" y="482600"/>
                </a:lnTo>
                <a:lnTo>
                  <a:pt x="47625" y="457200"/>
                </a:lnTo>
                <a:lnTo>
                  <a:pt x="44958" y="431800"/>
                </a:lnTo>
                <a:lnTo>
                  <a:pt x="42926" y="393700"/>
                </a:lnTo>
                <a:lnTo>
                  <a:pt x="41402" y="368300"/>
                </a:lnTo>
                <a:lnTo>
                  <a:pt x="39116" y="342900"/>
                </a:lnTo>
                <a:lnTo>
                  <a:pt x="36957" y="317500"/>
                </a:lnTo>
                <a:lnTo>
                  <a:pt x="35814" y="292100"/>
                </a:lnTo>
                <a:lnTo>
                  <a:pt x="35814" y="177800"/>
                </a:lnTo>
                <a:lnTo>
                  <a:pt x="34290" y="165100"/>
                </a:lnTo>
                <a:lnTo>
                  <a:pt x="34290" y="127000"/>
                </a:lnTo>
                <a:lnTo>
                  <a:pt x="35687" y="101600"/>
                </a:lnTo>
                <a:lnTo>
                  <a:pt x="36830" y="88900"/>
                </a:lnTo>
                <a:lnTo>
                  <a:pt x="37846" y="76200"/>
                </a:lnTo>
                <a:close/>
              </a:path>
              <a:path extrusionOk="0" h="2019300" w="124459">
                <a:moveTo>
                  <a:pt x="42418" y="50800"/>
                </a:moveTo>
                <a:lnTo>
                  <a:pt x="20447" y="50800"/>
                </a:lnTo>
                <a:lnTo>
                  <a:pt x="18288" y="63500"/>
                </a:lnTo>
                <a:lnTo>
                  <a:pt x="15748" y="76200"/>
                </a:lnTo>
                <a:lnTo>
                  <a:pt x="37719" y="76200"/>
                </a:lnTo>
                <a:lnTo>
                  <a:pt x="40259" y="63500"/>
                </a:lnTo>
                <a:lnTo>
                  <a:pt x="42418" y="50800"/>
                </a:lnTo>
                <a:close/>
              </a:path>
              <a:path extrusionOk="0" h="2019300" w="124459">
                <a:moveTo>
                  <a:pt x="44450" y="38100"/>
                </a:moveTo>
                <a:lnTo>
                  <a:pt x="22733" y="38100"/>
                </a:lnTo>
                <a:lnTo>
                  <a:pt x="20574" y="50800"/>
                </a:lnTo>
                <a:lnTo>
                  <a:pt x="42291" y="50800"/>
                </a:lnTo>
                <a:lnTo>
                  <a:pt x="44450" y="38100"/>
                </a:lnTo>
                <a:close/>
              </a:path>
              <a:path extrusionOk="0" h="2019300" w="124459">
                <a:moveTo>
                  <a:pt x="52451" y="25400"/>
                </a:moveTo>
                <a:lnTo>
                  <a:pt x="25781" y="25400"/>
                </a:lnTo>
                <a:lnTo>
                  <a:pt x="23241" y="38100"/>
                </a:lnTo>
                <a:lnTo>
                  <a:pt x="49149" y="38100"/>
                </a:lnTo>
                <a:lnTo>
                  <a:pt x="52451" y="25400"/>
                </a:lnTo>
                <a:close/>
              </a:path>
              <a:path extrusionOk="0" h="2019300" w="124459">
                <a:moveTo>
                  <a:pt x="76708" y="12700"/>
                </a:moveTo>
                <a:lnTo>
                  <a:pt x="33528" y="12700"/>
                </a:lnTo>
                <a:lnTo>
                  <a:pt x="30226" y="25400"/>
                </a:lnTo>
                <a:lnTo>
                  <a:pt x="65278" y="25400"/>
                </a:lnTo>
                <a:lnTo>
                  <a:pt x="76708" y="12700"/>
                </a:lnTo>
                <a:close/>
              </a:path>
              <a:path extrusionOk="0" h="2019300" w="124459">
                <a:moveTo>
                  <a:pt x="112971" y="21492"/>
                </a:moveTo>
                <a:lnTo>
                  <a:pt x="113284" y="25400"/>
                </a:lnTo>
                <a:lnTo>
                  <a:pt x="113792" y="25400"/>
                </a:lnTo>
                <a:lnTo>
                  <a:pt x="112971" y="21492"/>
                </a:lnTo>
                <a:close/>
              </a:path>
              <a:path extrusionOk="0" h="2019300" w="124459">
                <a:moveTo>
                  <a:pt x="112475" y="15297"/>
                </a:moveTo>
                <a:lnTo>
                  <a:pt x="112971" y="21492"/>
                </a:lnTo>
                <a:lnTo>
                  <a:pt x="113792" y="25400"/>
                </a:lnTo>
                <a:lnTo>
                  <a:pt x="117729" y="25400"/>
                </a:lnTo>
                <a:lnTo>
                  <a:pt x="112475" y="15297"/>
                </a:lnTo>
                <a:close/>
              </a:path>
              <a:path extrusionOk="0" h="2019300" w="124459">
                <a:moveTo>
                  <a:pt x="120650" y="12700"/>
                </a:moveTo>
                <a:lnTo>
                  <a:pt x="112268" y="12700"/>
                </a:lnTo>
                <a:lnTo>
                  <a:pt x="112475" y="15297"/>
                </a:lnTo>
                <a:lnTo>
                  <a:pt x="117729" y="25400"/>
                </a:lnTo>
                <a:lnTo>
                  <a:pt x="119253" y="25400"/>
                </a:lnTo>
                <a:lnTo>
                  <a:pt x="121175" y="20204"/>
                </a:lnTo>
                <a:lnTo>
                  <a:pt x="120650" y="12700"/>
                </a:lnTo>
                <a:close/>
              </a:path>
              <a:path extrusionOk="0" h="2019300" w="124459">
                <a:moveTo>
                  <a:pt x="122169" y="17517"/>
                </a:moveTo>
                <a:lnTo>
                  <a:pt x="121175" y="20204"/>
                </a:lnTo>
                <a:lnTo>
                  <a:pt x="121539" y="25400"/>
                </a:lnTo>
                <a:lnTo>
                  <a:pt x="122169" y="17517"/>
                </a:lnTo>
                <a:close/>
              </a:path>
              <a:path extrusionOk="0" h="2019300" w="124459">
                <a:moveTo>
                  <a:pt x="111125" y="12700"/>
                </a:moveTo>
                <a:lnTo>
                  <a:pt x="112971" y="21492"/>
                </a:lnTo>
                <a:lnTo>
                  <a:pt x="112475" y="15297"/>
                </a:lnTo>
                <a:lnTo>
                  <a:pt x="111125" y="12700"/>
                </a:lnTo>
                <a:close/>
              </a:path>
              <a:path extrusionOk="0" h="2019300" w="124459">
                <a:moveTo>
                  <a:pt x="122555" y="12700"/>
                </a:moveTo>
                <a:lnTo>
                  <a:pt x="120650" y="12700"/>
                </a:lnTo>
                <a:lnTo>
                  <a:pt x="121175" y="20204"/>
                </a:lnTo>
                <a:lnTo>
                  <a:pt x="122169" y="17517"/>
                </a:lnTo>
                <a:lnTo>
                  <a:pt x="122555" y="12700"/>
                </a:lnTo>
                <a:close/>
              </a:path>
              <a:path extrusionOk="0" h="2019300" w="124459">
                <a:moveTo>
                  <a:pt x="123952" y="12700"/>
                </a:moveTo>
                <a:lnTo>
                  <a:pt x="122555" y="12700"/>
                </a:lnTo>
                <a:lnTo>
                  <a:pt x="122169" y="17517"/>
                </a:lnTo>
                <a:lnTo>
                  <a:pt x="123952" y="12700"/>
                </a:lnTo>
                <a:close/>
              </a:path>
              <a:path extrusionOk="0" h="2019300" w="124459">
                <a:moveTo>
                  <a:pt x="116713" y="0"/>
                </a:moveTo>
                <a:lnTo>
                  <a:pt x="53721" y="0"/>
                </a:lnTo>
                <a:lnTo>
                  <a:pt x="43053" y="12700"/>
                </a:lnTo>
                <a:lnTo>
                  <a:pt x="118745" y="12700"/>
                </a:lnTo>
                <a:lnTo>
                  <a:pt x="117316" y="3174"/>
                </a:lnTo>
                <a:lnTo>
                  <a:pt x="116713" y="0"/>
                </a:lnTo>
                <a:close/>
              </a:path>
              <a:path extrusionOk="0" h="2019300" w="124459">
                <a:moveTo>
                  <a:pt x="117316" y="3174"/>
                </a:moveTo>
                <a:lnTo>
                  <a:pt x="118745" y="12700"/>
                </a:lnTo>
                <a:lnTo>
                  <a:pt x="117678" y="5079"/>
                </a:lnTo>
                <a:lnTo>
                  <a:pt x="117316" y="3174"/>
                </a:lnTo>
                <a:close/>
              </a:path>
              <a:path extrusionOk="0" h="2019300" w="124459">
                <a:moveTo>
                  <a:pt x="117678" y="5079"/>
                </a:moveTo>
                <a:lnTo>
                  <a:pt x="118745" y="12700"/>
                </a:lnTo>
                <a:lnTo>
                  <a:pt x="119126" y="12700"/>
                </a:lnTo>
                <a:lnTo>
                  <a:pt x="117678" y="5079"/>
                </a:lnTo>
                <a:close/>
              </a:path>
              <a:path extrusionOk="0" h="2019300" w="124459">
                <a:moveTo>
                  <a:pt x="117411" y="3174"/>
                </a:moveTo>
                <a:lnTo>
                  <a:pt x="117678" y="5079"/>
                </a:lnTo>
                <a:lnTo>
                  <a:pt x="119126" y="12700"/>
                </a:lnTo>
                <a:lnTo>
                  <a:pt x="117411" y="3174"/>
                </a:lnTo>
                <a:close/>
              </a:path>
              <a:path extrusionOk="0" h="2019300" w="124459">
                <a:moveTo>
                  <a:pt x="117081" y="819"/>
                </a:moveTo>
                <a:lnTo>
                  <a:pt x="117411" y="3174"/>
                </a:lnTo>
                <a:lnTo>
                  <a:pt x="119126" y="12700"/>
                </a:lnTo>
                <a:lnTo>
                  <a:pt x="122428" y="12700"/>
                </a:lnTo>
                <a:lnTo>
                  <a:pt x="117081" y="819"/>
                </a:lnTo>
                <a:close/>
              </a:path>
              <a:path extrusionOk="0" h="2019300" w="124459">
                <a:moveTo>
                  <a:pt x="116903" y="423"/>
                </a:moveTo>
                <a:lnTo>
                  <a:pt x="117316" y="3174"/>
                </a:lnTo>
                <a:lnTo>
                  <a:pt x="117678" y="5079"/>
                </a:lnTo>
                <a:lnTo>
                  <a:pt x="117411" y="3174"/>
                </a:lnTo>
                <a:lnTo>
                  <a:pt x="116903" y="423"/>
                </a:lnTo>
                <a:close/>
              </a:path>
              <a:path extrusionOk="0" h="2019300" w="124459">
                <a:moveTo>
                  <a:pt x="116713" y="0"/>
                </a:moveTo>
                <a:lnTo>
                  <a:pt x="117316" y="3174"/>
                </a:lnTo>
                <a:lnTo>
                  <a:pt x="116903" y="423"/>
                </a:lnTo>
                <a:lnTo>
                  <a:pt x="116713" y="0"/>
                </a:lnTo>
                <a:close/>
              </a:path>
              <a:path extrusionOk="0" h="2019300" w="124459">
                <a:moveTo>
                  <a:pt x="116924" y="470"/>
                </a:moveTo>
                <a:lnTo>
                  <a:pt x="117411" y="3174"/>
                </a:lnTo>
                <a:lnTo>
                  <a:pt x="117081" y="819"/>
                </a:lnTo>
                <a:lnTo>
                  <a:pt x="116924" y="470"/>
                </a:lnTo>
                <a:close/>
              </a:path>
              <a:path extrusionOk="0" h="2019300" w="124459">
                <a:moveTo>
                  <a:pt x="116967" y="0"/>
                </a:moveTo>
                <a:lnTo>
                  <a:pt x="116924" y="470"/>
                </a:lnTo>
                <a:lnTo>
                  <a:pt x="117081" y="819"/>
                </a:lnTo>
                <a:lnTo>
                  <a:pt x="116967" y="0"/>
                </a:lnTo>
                <a:close/>
              </a:path>
              <a:path extrusionOk="0" h="2019300" w="124459">
                <a:moveTo>
                  <a:pt x="116840" y="0"/>
                </a:moveTo>
                <a:lnTo>
                  <a:pt x="116903" y="423"/>
                </a:lnTo>
                <a:lnTo>
                  <a:pt x="11684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8" name="Google Shape;98;p4"/>
          <p:cNvSpPr/>
          <p:nvPr/>
        </p:nvSpPr>
        <p:spPr>
          <a:xfrm>
            <a:off x="10377551" y="4510659"/>
            <a:ext cx="17780" cy="24765"/>
          </a:xfrm>
          <a:custGeom>
            <a:rect b="b" l="l" r="r" t="t"/>
            <a:pathLst>
              <a:path extrusionOk="0" h="24764" w="17779">
                <a:moveTo>
                  <a:pt x="17525" y="16510"/>
                </a:moveTo>
                <a:lnTo>
                  <a:pt x="4445" y="16510"/>
                </a:lnTo>
                <a:lnTo>
                  <a:pt x="5588" y="19431"/>
                </a:lnTo>
                <a:lnTo>
                  <a:pt x="4795" y="19431"/>
                </a:lnTo>
                <a:lnTo>
                  <a:pt x="4825" y="19685"/>
                </a:lnTo>
                <a:lnTo>
                  <a:pt x="5969" y="22479"/>
                </a:lnTo>
                <a:lnTo>
                  <a:pt x="7366" y="24384"/>
                </a:lnTo>
                <a:lnTo>
                  <a:pt x="13770" y="19431"/>
                </a:lnTo>
                <a:lnTo>
                  <a:pt x="5588" y="19431"/>
                </a:lnTo>
                <a:lnTo>
                  <a:pt x="4640" y="18138"/>
                </a:lnTo>
                <a:lnTo>
                  <a:pt x="15441" y="18138"/>
                </a:lnTo>
                <a:lnTo>
                  <a:pt x="16891" y="17018"/>
                </a:lnTo>
                <a:lnTo>
                  <a:pt x="17465" y="17018"/>
                </a:lnTo>
                <a:lnTo>
                  <a:pt x="17525" y="16510"/>
                </a:lnTo>
                <a:close/>
              </a:path>
              <a:path extrusionOk="0" h="24764" w="17779">
                <a:moveTo>
                  <a:pt x="17465" y="17018"/>
                </a:moveTo>
                <a:lnTo>
                  <a:pt x="16891" y="17018"/>
                </a:lnTo>
                <a:lnTo>
                  <a:pt x="17145" y="19685"/>
                </a:lnTo>
                <a:lnTo>
                  <a:pt x="17465" y="17018"/>
                </a:lnTo>
                <a:close/>
              </a:path>
              <a:path extrusionOk="0" h="24764" w="17779">
                <a:moveTo>
                  <a:pt x="4445" y="16510"/>
                </a:moveTo>
                <a:lnTo>
                  <a:pt x="4640" y="18138"/>
                </a:lnTo>
                <a:lnTo>
                  <a:pt x="5588" y="19431"/>
                </a:lnTo>
                <a:lnTo>
                  <a:pt x="4445" y="16510"/>
                </a:lnTo>
                <a:close/>
              </a:path>
              <a:path extrusionOk="0" h="24764" w="17779">
                <a:moveTo>
                  <a:pt x="2158" y="13335"/>
                </a:moveTo>
                <a:lnTo>
                  <a:pt x="3626" y="16510"/>
                </a:lnTo>
                <a:lnTo>
                  <a:pt x="4191" y="17526"/>
                </a:lnTo>
                <a:lnTo>
                  <a:pt x="4640" y="18138"/>
                </a:lnTo>
                <a:lnTo>
                  <a:pt x="4445" y="16510"/>
                </a:lnTo>
                <a:lnTo>
                  <a:pt x="17525" y="16510"/>
                </a:lnTo>
                <a:lnTo>
                  <a:pt x="17492" y="16129"/>
                </a:lnTo>
                <a:lnTo>
                  <a:pt x="4445" y="16129"/>
                </a:lnTo>
                <a:lnTo>
                  <a:pt x="2158" y="13335"/>
                </a:lnTo>
                <a:close/>
              </a:path>
              <a:path extrusionOk="0" h="24764" w="17779">
                <a:moveTo>
                  <a:pt x="6350" y="0"/>
                </a:moveTo>
                <a:lnTo>
                  <a:pt x="3428" y="1651"/>
                </a:lnTo>
                <a:lnTo>
                  <a:pt x="0" y="9525"/>
                </a:lnTo>
                <a:lnTo>
                  <a:pt x="4445" y="16129"/>
                </a:lnTo>
                <a:lnTo>
                  <a:pt x="17492" y="16129"/>
                </a:lnTo>
                <a:lnTo>
                  <a:pt x="17272" y="13589"/>
                </a:lnTo>
                <a:lnTo>
                  <a:pt x="16813" y="11938"/>
                </a:lnTo>
                <a:lnTo>
                  <a:pt x="16299" y="9525"/>
                </a:lnTo>
                <a:lnTo>
                  <a:pt x="14731" y="9525"/>
                </a:lnTo>
                <a:lnTo>
                  <a:pt x="11810" y="3175"/>
                </a:lnTo>
                <a:lnTo>
                  <a:pt x="13665" y="3175"/>
                </a:lnTo>
                <a:lnTo>
                  <a:pt x="13462" y="2540"/>
                </a:lnTo>
                <a:lnTo>
                  <a:pt x="6350" y="0"/>
                </a:lnTo>
                <a:close/>
              </a:path>
              <a:path extrusionOk="0" h="24764" w="17779">
                <a:moveTo>
                  <a:pt x="16652" y="11360"/>
                </a:moveTo>
                <a:lnTo>
                  <a:pt x="16764" y="11938"/>
                </a:lnTo>
                <a:lnTo>
                  <a:pt x="16652" y="11360"/>
                </a:lnTo>
                <a:close/>
              </a:path>
              <a:path extrusionOk="0" h="24764" w="17779">
                <a:moveTo>
                  <a:pt x="16641" y="11303"/>
                </a:moveTo>
                <a:close/>
              </a:path>
              <a:path extrusionOk="0" h="24764" w="17779">
                <a:moveTo>
                  <a:pt x="11810" y="3175"/>
                </a:moveTo>
                <a:lnTo>
                  <a:pt x="14731" y="9525"/>
                </a:lnTo>
                <a:lnTo>
                  <a:pt x="14858" y="8382"/>
                </a:lnTo>
                <a:lnTo>
                  <a:pt x="14565" y="6324"/>
                </a:lnTo>
                <a:lnTo>
                  <a:pt x="13207" y="4318"/>
                </a:lnTo>
                <a:lnTo>
                  <a:pt x="11810" y="3175"/>
                </a:lnTo>
                <a:close/>
              </a:path>
              <a:path extrusionOk="0" h="24764" w="17779">
                <a:moveTo>
                  <a:pt x="14565" y="6324"/>
                </a:moveTo>
                <a:lnTo>
                  <a:pt x="14858" y="8382"/>
                </a:lnTo>
                <a:lnTo>
                  <a:pt x="14731" y="9525"/>
                </a:lnTo>
                <a:lnTo>
                  <a:pt x="16299" y="9525"/>
                </a:lnTo>
                <a:lnTo>
                  <a:pt x="16128" y="8636"/>
                </a:lnTo>
                <a:lnTo>
                  <a:pt x="14565" y="6324"/>
                </a:lnTo>
                <a:close/>
              </a:path>
              <a:path extrusionOk="0" h="24764" w="17779">
                <a:moveTo>
                  <a:pt x="13665" y="3175"/>
                </a:moveTo>
                <a:lnTo>
                  <a:pt x="11810" y="3175"/>
                </a:lnTo>
                <a:lnTo>
                  <a:pt x="13207" y="4318"/>
                </a:lnTo>
                <a:lnTo>
                  <a:pt x="14565" y="6324"/>
                </a:lnTo>
                <a:lnTo>
                  <a:pt x="14477" y="5715"/>
                </a:lnTo>
                <a:lnTo>
                  <a:pt x="13665" y="317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9" name="Google Shape;99;p4"/>
          <p:cNvSpPr/>
          <p:nvPr/>
        </p:nvSpPr>
        <p:spPr>
          <a:xfrm>
            <a:off x="10379012" y="4681728"/>
            <a:ext cx="18415" cy="36830"/>
          </a:xfrm>
          <a:custGeom>
            <a:rect b="b" l="l" r="r" t="t"/>
            <a:pathLst>
              <a:path extrusionOk="0" h="36829" w="18415">
                <a:moveTo>
                  <a:pt x="16445" y="21971"/>
                </a:moveTo>
                <a:lnTo>
                  <a:pt x="443" y="21971"/>
                </a:lnTo>
                <a:lnTo>
                  <a:pt x="697" y="25146"/>
                </a:lnTo>
                <a:lnTo>
                  <a:pt x="1332" y="27686"/>
                </a:lnTo>
                <a:lnTo>
                  <a:pt x="2983" y="31369"/>
                </a:lnTo>
                <a:lnTo>
                  <a:pt x="5777" y="34671"/>
                </a:lnTo>
                <a:lnTo>
                  <a:pt x="8698" y="36322"/>
                </a:lnTo>
                <a:lnTo>
                  <a:pt x="15048" y="23876"/>
                </a:lnTo>
                <a:lnTo>
                  <a:pt x="16191" y="23876"/>
                </a:lnTo>
                <a:lnTo>
                  <a:pt x="16313" y="23622"/>
                </a:lnTo>
                <a:lnTo>
                  <a:pt x="16445" y="21971"/>
                </a:lnTo>
                <a:close/>
              </a:path>
              <a:path extrusionOk="0" h="36829" w="18415">
                <a:moveTo>
                  <a:pt x="16191" y="23876"/>
                </a:moveTo>
                <a:lnTo>
                  <a:pt x="15048" y="23876"/>
                </a:lnTo>
                <a:lnTo>
                  <a:pt x="16699" y="27686"/>
                </a:lnTo>
                <a:lnTo>
                  <a:pt x="16381" y="25146"/>
                </a:lnTo>
                <a:lnTo>
                  <a:pt x="16191" y="25146"/>
                </a:lnTo>
                <a:lnTo>
                  <a:pt x="16191" y="23876"/>
                </a:lnTo>
                <a:close/>
              </a:path>
              <a:path extrusionOk="0" h="36829" w="18415">
                <a:moveTo>
                  <a:pt x="16265" y="24216"/>
                </a:moveTo>
                <a:lnTo>
                  <a:pt x="16191" y="25146"/>
                </a:lnTo>
                <a:lnTo>
                  <a:pt x="16381" y="25146"/>
                </a:lnTo>
                <a:lnTo>
                  <a:pt x="16265" y="24216"/>
                </a:lnTo>
                <a:close/>
              </a:path>
              <a:path extrusionOk="0" h="36829" w="18415">
                <a:moveTo>
                  <a:pt x="16313" y="23622"/>
                </a:moveTo>
                <a:lnTo>
                  <a:pt x="16265" y="24216"/>
                </a:lnTo>
                <a:lnTo>
                  <a:pt x="16313" y="23622"/>
                </a:lnTo>
                <a:close/>
              </a:path>
              <a:path extrusionOk="0" h="36829" w="18415">
                <a:moveTo>
                  <a:pt x="11619" y="0"/>
                </a:moveTo>
                <a:lnTo>
                  <a:pt x="6285" y="3175"/>
                </a:lnTo>
                <a:lnTo>
                  <a:pt x="4253" y="4953"/>
                </a:lnTo>
                <a:lnTo>
                  <a:pt x="1586" y="8763"/>
                </a:lnTo>
                <a:lnTo>
                  <a:pt x="0" y="14986"/>
                </a:lnTo>
                <a:lnTo>
                  <a:pt x="62" y="18923"/>
                </a:lnTo>
                <a:lnTo>
                  <a:pt x="443" y="22098"/>
                </a:lnTo>
                <a:lnTo>
                  <a:pt x="16460" y="21971"/>
                </a:lnTo>
                <a:lnTo>
                  <a:pt x="16826" y="18923"/>
                </a:lnTo>
                <a:lnTo>
                  <a:pt x="16850" y="12446"/>
                </a:lnTo>
                <a:lnTo>
                  <a:pt x="14794" y="12446"/>
                </a:lnTo>
                <a:lnTo>
                  <a:pt x="15810" y="7366"/>
                </a:lnTo>
                <a:lnTo>
                  <a:pt x="18263" y="7366"/>
                </a:lnTo>
                <a:lnTo>
                  <a:pt x="11619" y="0"/>
                </a:lnTo>
                <a:close/>
              </a:path>
              <a:path extrusionOk="0" h="36829" w="18415">
                <a:moveTo>
                  <a:pt x="16460" y="21971"/>
                </a:moveTo>
                <a:close/>
              </a:path>
              <a:path extrusionOk="0" h="36829" w="18415">
                <a:moveTo>
                  <a:pt x="15810" y="7366"/>
                </a:moveTo>
                <a:lnTo>
                  <a:pt x="14794" y="12446"/>
                </a:lnTo>
                <a:lnTo>
                  <a:pt x="16400" y="10094"/>
                </a:lnTo>
                <a:lnTo>
                  <a:pt x="15810" y="7366"/>
                </a:lnTo>
                <a:close/>
              </a:path>
              <a:path extrusionOk="0" h="36829" w="18415">
                <a:moveTo>
                  <a:pt x="16400" y="10094"/>
                </a:moveTo>
                <a:lnTo>
                  <a:pt x="14794" y="12446"/>
                </a:lnTo>
                <a:lnTo>
                  <a:pt x="16850" y="12446"/>
                </a:lnTo>
                <a:lnTo>
                  <a:pt x="16826" y="12065"/>
                </a:lnTo>
                <a:lnTo>
                  <a:pt x="16400" y="10094"/>
                </a:lnTo>
                <a:close/>
              </a:path>
              <a:path extrusionOk="0" h="36829" w="18415">
                <a:moveTo>
                  <a:pt x="18263" y="7366"/>
                </a:moveTo>
                <a:lnTo>
                  <a:pt x="15810" y="7366"/>
                </a:lnTo>
                <a:lnTo>
                  <a:pt x="16400" y="10094"/>
                </a:lnTo>
                <a:lnTo>
                  <a:pt x="18263" y="73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00" name="Google Shape;100;p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575292" y="3088132"/>
            <a:ext cx="163956" cy="508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>
            <p:ph type="title"/>
          </p:nvPr>
        </p:nvSpPr>
        <p:spPr>
          <a:xfrm>
            <a:off x="4354321" y="363219"/>
            <a:ext cx="3481704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Data Clustering</a:t>
            </a:r>
            <a:endParaRPr/>
          </a:p>
        </p:txBody>
      </p:sp>
      <p:sp>
        <p:nvSpPr>
          <p:cNvPr id="106" name="Google Shape;106;p5"/>
          <p:cNvSpPr txBox="1"/>
          <p:nvPr/>
        </p:nvSpPr>
        <p:spPr>
          <a:xfrm>
            <a:off x="675640" y="1293437"/>
            <a:ext cx="10373360" cy="495263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090" l="-1468" r="0" t="-73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/>
              <a:t>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 txBox="1"/>
          <p:nvPr>
            <p:ph type="title"/>
          </p:nvPr>
        </p:nvSpPr>
        <p:spPr>
          <a:xfrm>
            <a:off x="1600200" y="363219"/>
            <a:ext cx="7825611" cy="689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Otras aplicaciones de clustering</a:t>
            </a:r>
            <a:endParaRPr/>
          </a:p>
        </p:txBody>
      </p:sp>
      <p:sp>
        <p:nvSpPr>
          <p:cNvPr id="112" name="Google Shape;112;p6"/>
          <p:cNvSpPr txBox="1"/>
          <p:nvPr/>
        </p:nvSpPr>
        <p:spPr>
          <a:xfrm>
            <a:off x="688340" y="1289050"/>
            <a:ext cx="8574405" cy="1890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125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s-ES" sz="2400">
                <a:latin typeface="Calibri"/>
                <a:ea typeface="Calibri"/>
                <a:cs typeface="Calibri"/>
                <a:sym typeface="Calibri"/>
              </a:rPr>
              <a:t>NASA: ¿qué tipos de estrellas hay?</a:t>
            </a:r>
            <a:endParaRPr/>
          </a:p>
          <a:p>
            <a:pPr indent="-342900" lvl="0" marL="35560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s-ES" sz="2400">
                <a:latin typeface="Calibri"/>
                <a:ea typeface="Calibri"/>
                <a:cs typeface="Calibri"/>
                <a:sym typeface="Calibri"/>
              </a:rPr>
              <a:t>Biología: ¿hay subespecies?</a:t>
            </a:r>
            <a:endParaRPr/>
          </a:p>
          <a:p>
            <a:pPr indent="-342900" lvl="0" marL="35560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s-ES" sz="2400">
                <a:latin typeface="Calibri"/>
                <a:ea typeface="Calibri"/>
                <a:cs typeface="Calibri"/>
                <a:sym typeface="Calibri"/>
              </a:rPr>
              <a:t>Documentos: ¿qué tipo de documentos hay en mi disco duro?</a:t>
            </a:r>
            <a:endParaRPr/>
          </a:p>
          <a:p>
            <a:pPr indent="-342900" lvl="0" marL="35560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s-ES" sz="2400">
                <a:latin typeface="Calibri"/>
                <a:ea typeface="Calibri"/>
                <a:cs typeface="Calibri"/>
                <a:sym typeface="Calibri"/>
              </a:rPr>
              <a:t>Comercial: ¿qué tipo de clientes tengo?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275" y="3620261"/>
            <a:ext cx="4495800" cy="266776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6"/>
          <p:cNvSpPr txBox="1"/>
          <p:nvPr/>
        </p:nvSpPr>
        <p:spPr>
          <a:xfrm>
            <a:off x="51815" y="6410411"/>
            <a:ext cx="550926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u="sng">
                <a:solidFill>
                  <a:srgbClr val="EDEBE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http://www.eecs.wsu.edu/~cook/dm/lectures/l9/index.html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u="sng">
                <a:solidFill>
                  <a:srgbClr val="EDEBE0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http://www.biology-online.org/articles/canine_genomics_genetics_running/figures.html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90789" y="2894797"/>
            <a:ext cx="3601211" cy="3906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5083809" y="363219"/>
            <a:ext cx="2021839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K-Means</a:t>
            </a:r>
            <a:endParaRPr/>
          </a:p>
        </p:txBody>
      </p:sp>
      <p:sp>
        <p:nvSpPr>
          <p:cNvPr id="121" name="Google Shape;121;p7"/>
          <p:cNvSpPr txBox="1"/>
          <p:nvPr/>
        </p:nvSpPr>
        <p:spPr>
          <a:xfrm>
            <a:off x="675640" y="1289050"/>
            <a:ext cx="10830560" cy="476284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219" l="-1912" r="-618" t="-38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/>
              <a:t> 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3905758" y="363219"/>
            <a:ext cx="4222750" cy="689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K-Means: Ejemplo</a:t>
            </a:r>
            <a:endParaRPr/>
          </a:p>
        </p:txBody>
      </p:sp>
      <p:pic>
        <p:nvPicPr>
          <p:cNvPr id="127" name="Google Shape;1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0439" y="1727200"/>
            <a:ext cx="5802137" cy="454575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8"/>
          <p:cNvSpPr txBox="1"/>
          <p:nvPr/>
        </p:nvSpPr>
        <p:spPr>
          <a:xfrm>
            <a:off x="7868919" y="3094989"/>
            <a:ext cx="4222750" cy="130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13335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latin typeface="Calibri"/>
                <a:ea typeface="Calibri"/>
                <a:cs typeface="Calibri"/>
                <a:sym typeface="Calibri"/>
              </a:rPr>
              <a:t>Empezar con "k" medias iniciales (normalmente, puntos de datos aleatorios)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145" y="3184270"/>
            <a:ext cx="356387" cy="2607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8"/>
          <p:cNvGrpSpPr/>
          <p:nvPr/>
        </p:nvGrpSpPr>
        <p:grpSpPr>
          <a:xfrm>
            <a:off x="1207490" y="2670682"/>
            <a:ext cx="746659" cy="2102993"/>
            <a:chOff x="1207490" y="2670682"/>
            <a:chExt cx="746659" cy="2102993"/>
          </a:xfrm>
        </p:grpSpPr>
        <p:pic>
          <p:nvPicPr>
            <p:cNvPr id="131" name="Google Shape;131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22528" y="2715259"/>
              <a:ext cx="289202" cy="229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07490" y="2670682"/>
              <a:ext cx="654202" cy="21029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22552" y="3087115"/>
              <a:ext cx="331597" cy="2706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4" name="Google Shape;134;p8"/>
          <p:cNvGrpSpPr/>
          <p:nvPr/>
        </p:nvGrpSpPr>
        <p:grpSpPr>
          <a:xfrm>
            <a:off x="2130961" y="2705100"/>
            <a:ext cx="680183" cy="2052066"/>
            <a:chOff x="2130961" y="2705100"/>
            <a:chExt cx="680183" cy="2052066"/>
          </a:xfrm>
        </p:grpSpPr>
        <p:pic>
          <p:nvPicPr>
            <p:cNvPr id="135" name="Google Shape;135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146808" y="2725166"/>
              <a:ext cx="430530" cy="234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130961" y="3202177"/>
              <a:ext cx="119732" cy="2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197354" y="2705100"/>
              <a:ext cx="613790" cy="20520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8" name="Google Shape;138;p8"/>
          <p:cNvSpPr txBox="1"/>
          <p:nvPr/>
        </p:nvSpPr>
        <p:spPr>
          <a:xfrm>
            <a:off x="950975" y="2093214"/>
            <a:ext cx="20142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Input: data matrix ‘X’.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3886200" y="363219"/>
            <a:ext cx="4242307" cy="689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K-Means: Ejemplo</a:t>
            </a:r>
            <a:endParaRPr/>
          </a:p>
        </p:txBody>
      </p:sp>
      <p:pic>
        <p:nvPicPr>
          <p:cNvPr id="144" name="Google Shape;1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0439" y="1727200"/>
            <a:ext cx="5802137" cy="454575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9"/>
          <p:cNvSpPr txBox="1"/>
          <p:nvPr/>
        </p:nvSpPr>
        <p:spPr>
          <a:xfrm>
            <a:off x="8284209" y="3094989"/>
            <a:ext cx="3395345" cy="879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12750" lvl="0" marL="42481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latin typeface="Calibri"/>
                <a:ea typeface="Calibri"/>
                <a:cs typeface="Calibri"/>
                <a:sym typeface="Calibri"/>
              </a:rPr>
              <a:t>Assign each example to the closest mean.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145" y="3184270"/>
            <a:ext cx="356387" cy="2607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9"/>
          <p:cNvGrpSpPr/>
          <p:nvPr/>
        </p:nvGrpSpPr>
        <p:grpSpPr>
          <a:xfrm>
            <a:off x="1207490" y="2670682"/>
            <a:ext cx="746659" cy="2102993"/>
            <a:chOff x="1207490" y="2670682"/>
            <a:chExt cx="746659" cy="2102993"/>
          </a:xfrm>
        </p:grpSpPr>
        <p:pic>
          <p:nvPicPr>
            <p:cNvPr id="148" name="Google Shape;148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22528" y="2715259"/>
              <a:ext cx="289202" cy="229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07490" y="2670682"/>
              <a:ext cx="654202" cy="21029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22552" y="3087115"/>
              <a:ext cx="331597" cy="2706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1" name="Google Shape;151;p9"/>
          <p:cNvGrpSpPr/>
          <p:nvPr/>
        </p:nvGrpSpPr>
        <p:grpSpPr>
          <a:xfrm>
            <a:off x="2130961" y="2705100"/>
            <a:ext cx="680183" cy="2052066"/>
            <a:chOff x="2130961" y="2705100"/>
            <a:chExt cx="680183" cy="2052066"/>
          </a:xfrm>
        </p:grpSpPr>
        <p:pic>
          <p:nvPicPr>
            <p:cNvPr id="152" name="Google Shape;152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146808" y="2725166"/>
              <a:ext cx="430530" cy="234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130961" y="3202177"/>
              <a:ext cx="119732" cy="2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197354" y="2705100"/>
              <a:ext cx="613790" cy="20520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p9"/>
          <p:cNvSpPr txBox="1"/>
          <p:nvPr/>
        </p:nvSpPr>
        <p:spPr>
          <a:xfrm>
            <a:off x="950975" y="2093214"/>
            <a:ext cx="20142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Input: data matrix ‘X’.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>
            <p:ph type="title"/>
          </p:nvPr>
        </p:nvSpPr>
        <p:spPr>
          <a:xfrm>
            <a:off x="4059428" y="363219"/>
            <a:ext cx="4398772" cy="689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K-Means: Ejemplo</a:t>
            </a:r>
            <a:endParaRPr/>
          </a:p>
        </p:txBody>
      </p:sp>
      <p:pic>
        <p:nvPicPr>
          <p:cNvPr id="161" name="Google Shape;1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0439" y="1727200"/>
            <a:ext cx="5802137" cy="454575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0"/>
          <p:cNvSpPr txBox="1"/>
          <p:nvPr/>
        </p:nvSpPr>
        <p:spPr>
          <a:xfrm>
            <a:off x="8705595" y="3094989"/>
            <a:ext cx="3181605" cy="874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23519" lvl="0" marL="235584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latin typeface="Calibri"/>
                <a:ea typeface="Calibri"/>
                <a:cs typeface="Calibri"/>
                <a:sym typeface="Calibri"/>
              </a:rPr>
              <a:t>Actualiza la media de cada grupo.</a:t>
            </a:r>
            <a:endParaRPr/>
          </a:p>
        </p:txBody>
      </p:sp>
      <p:pic>
        <p:nvPicPr>
          <p:cNvPr id="163" name="Google Shape;16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145" y="3184270"/>
            <a:ext cx="356387" cy="2607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0"/>
          <p:cNvGrpSpPr/>
          <p:nvPr/>
        </p:nvGrpSpPr>
        <p:grpSpPr>
          <a:xfrm>
            <a:off x="1207490" y="2670682"/>
            <a:ext cx="746659" cy="2102993"/>
            <a:chOff x="1207490" y="2670682"/>
            <a:chExt cx="746659" cy="2102993"/>
          </a:xfrm>
        </p:grpSpPr>
        <p:pic>
          <p:nvPicPr>
            <p:cNvPr id="165" name="Google Shape;165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22528" y="2715259"/>
              <a:ext cx="289202" cy="229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07490" y="2670682"/>
              <a:ext cx="654202" cy="21029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22552" y="3087115"/>
              <a:ext cx="331597" cy="2706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" name="Google Shape;168;p10"/>
          <p:cNvGrpSpPr/>
          <p:nvPr/>
        </p:nvGrpSpPr>
        <p:grpSpPr>
          <a:xfrm>
            <a:off x="2130961" y="2705100"/>
            <a:ext cx="680183" cy="2052066"/>
            <a:chOff x="2130961" y="2705100"/>
            <a:chExt cx="680183" cy="2052066"/>
          </a:xfrm>
        </p:grpSpPr>
        <p:pic>
          <p:nvPicPr>
            <p:cNvPr id="169" name="Google Shape;169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146808" y="2725166"/>
              <a:ext cx="430530" cy="234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130961" y="3202177"/>
              <a:ext cx="119732" cy="2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197354" y="2705100"/>
              <a:ext cx="613790" cy="20520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2" name="Google Shape;172;p10"/>
          <p:cNvSpPr txBox="1"/>
          <p:nvPr/>
        </p:nvSpPr>
        <p:spPr>
          <a:xfrm>
            <a:off x="950975" y="2093214"/>
            <a:ext cx="20142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Input: data matrix ‘X’.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/>
          <p:nvPr>
            <p:ph type="title"/>
          </p:nvPr>
        </p:nvSpPr>
        <p:spPr>
          <a:xfrm>
            <a:off x="4059428" y="363219"/>
            <a:ext cx="4474972" cy="689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K-Means: Ejemplo</a:t>
            </a:r>
            <a:endParaRPr/>
          </a:p>
        </p:txBody>
      </p:sp>
      <p:pic>
        <p:nvPicPr>
          <p:cNvPr id="178" name="Google Shape;17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0439" y="1727200"/>
            <a:ext cx="5802137" cy="454575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1"/>
          <p:cNvSpPr txBox="1"/>
          <p:nvPr/>
        </p:nvSpPr>
        <p:spPr>
          <a:xfrm>
            <a:off x="8284209" y="3094989"/>
            <a:ext cx="3602991" cy="874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12750" lvl="0" marL="42481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latin typeface="Calibri"/>
                <a:ea typeface="Calibri"/>
                <a:cs typeface="Calibri"/>
                <a:sym typeface="Calibri"/>
              </a:rPr>
              <a:t>Asigna cada ejemplo a la media más cercana.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145" y="3184270"/>
            <a:ext cx="356387" cy="2607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11"/>
          <p:cNvGrpSpPr/>
          <p:nvPr/>
        </p:nvGrpSpPr>
        <p:grpSpPr>
          <a:xfrm>
            <a:off x="1207490" y="2670682"/>
            <a:ext cx="746659" cy="2102993"/>
            <a:chOff x="1207490" y="2670682"/>
            <a:chExt cx="746659" cy="2102993"/>
          </a:xfrm>
        </p:grpSpPr>
        <p:pic>
          <p:nvPicPr>
            <p:cNvPr id="182" name="Google Shape;182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22528" y="2715259"/>
              <a:ext cx="289202" cy="229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07490" y="2670682"/>
              <a:ext cx="654202" cy="21029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22552" y="3087115"/>
              <a:ext cx="331597" cy="2706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5" name="Google Shape;185;p11"/>
          <p:cNvGrpSpPr/>
          <p:nvPr/>
        </p:nvGrpSpPr>
        <p:grpSpPr>
          <a:xfrm>
            <a:off x="2130961" y="2705100"/>
            <a:ext cx="680183" cy="2052066"/>
            <a:chOff x="2130961" y="2705100"/>
            <a:chExt cx="680183" cy="2052066"/>
          </a:xfrm>
        </p:grpSpPr>
        <p:pic>
          <p:nvPicPr>
            <p:cNvPr id="186" name="Google Shape;186;p1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146808" y="2725166"/>
              <a:ext cx="430530" cy="234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130961" y="3202177"/>
              <a:ext cx="119732" cy="2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197354" y="2705100"/>
              <a:ext cx="613790" cy="20520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9" name="Google Shape;189;p11"/>
          <p:cNvSpPr txBox="1"/>
          <p:nvPr/>
        </p:nvSpPr>
        <p:spPr>
          <a:xfrm>
            <a:off x="950975" y="2093214"/>
            <a:ext cx="20142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Input: data matrix ‘X’.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>
            <p:ph type="title"/>
          </p:nvPr>
        </p:nvSpPr>
        <p:spPr>
          <a:xfrm>
            <a:off x="4059428" y="363219"/>
            <a:ext cx="4322572" cy="689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K-Means: Ejemplo</a:t>
            </a:r>
            <a:endParaRPr/>
          </a:p>
        </p:txBody>
      </p:sp>
      <p:pic>
        <p:nvPicPr>
          <p:cNvPr id="195" name="Google Shape;19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0439" y="1727200"/>
            <a:ext cx="5802137" cy="454575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2"/>
          <p:cNvSpPr txBox="1"/>
          <p:nvPr/>
        </p:nvSpPr>
        <p:spPr>
          <a:xfrm>
            <a:off x="8705595" y="3094989"/>
            <a:ext cx="3105405" cy="874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23519" lvl="0" marL="235584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latin typeface="Calibri"/>
                <a:ea typeface="Calibri"/>
                <a:cs typeface="Calibri"/>
                <a:sym typeface="Calibri"/>
              </a:rPr>
              <a:t>Actualiza la media de cada grupo.</a:t>
            </a:r>
            <a:endParaRPr/>
          </a:p>
        </p:txBody>
      </p:sp>
      <p:pic>
        <p:nvPicPr>
          <p:cNvPr id="197" name="Google Shape;19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145" y="3184270"/>
            <a:ext cx="356387" cy="2607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" name="Google Shape;198;p12"/>
          <p:cNvGrpSpPr/>
          <p:nvPr/>
        </p:nvGrpSpPr>
        <p:grpSpPr>
          <a:xfrm>
            <a:off x="1207490" y="2670682"/>
            <a:ext cx="746659" cy="2102993"/>
            <a:chOff x="1207490" y="2670682"/>
            <a:chExt cx="746659" cy="2102993"/>
          </a:xfrm>
        </p:grpSpPr>
        <p:pic>
          <p:nvPicPr>
            <p:cNvPr id="199" name="Google Shape;199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22528" y="2715259"/>
              <a:ext cx="289202" cy="229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07490" y="2670682"/>
              <a:ext cx="654202" cy="21029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22552" y="3087115"/>
              <a:ext cx="331597" cy="2706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2" name="Google Shape;202;p12"/>
          <p:cNvGrpSpPr/>
          <p:nvPr/>
        </p:nvGrpSpPr>
        <p:grpSpPr>
          <a:xfrm>
            <a:off x="2130961" y="2705100"/>
            <a:ext cx="680183" cy="2052066"/>
            <a:chOff x="2130961" y="2705100"/>
            <a:chExt cx="680183" cy="2052066"/>
          </a:xfrm>
        </p:grpSpPr>
        <p:pic>
          <p:nvPicPr>
            <p:cNvPr id="203" name="Google Shape;203;p1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146808" y="2725166"/>
              <a:ext cx="430530" cy="234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1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130961" y="3202177"/>
              <a:ext cx="119732" cy="2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1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197354" y="2705100"/>
              <a:ext cx="613790" cy="20520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12"/>
          <p:cNvSpPr txBox="1"/>
          <p:nvPr/>
        </p:nvSpPr>
        <p:spPr>
          <a:xfrm>
            <a:off x="950975" y="2093214"/>
            <a:ext cx="20142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Input: data matrix ‘X’.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"/>
          <p:cNvSpPr txBox="1"/>
          <p:nvPr>
            <p:ph type="title"/>
          </p:nvPr>
        </p:nvSpPr>
        <p:spPr>
          <a:xfrm>
            <a:off x="3886200" y="363219"/>
            <a:ext cx="4242307" cy="689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K-Means: Ejemplo</a:t>
            </a:r>
            <a:endParaRPr/>
          </a:p>
        </p:txBody>
      </p:sp>
      <p:pic>
        <p:nvPicPr>
          <p:cNvPr id="212" name="Google Shape;21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0439" y="1727200"/>
            <a:ext cx="5802137" cy="454575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3"/>
          <p:cNvSpPr txBox="1"/>
          <p:nvPr/>
        </p:nvSpPr>
        <p:spPr>
          <a:xfrm>
            <a:off x="8284209" y="3094989"/>
            <a:ext cx="3679191" cy="874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12750" lvl="0" marL="42481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latin typeface="Calibri"/>
                <a:ea typeface="Calibri"/>
                <a:cs typeface="Calibri"/>
                <a:sym typeface="Calibri"/>
              </a:rPr>
              <a:t>Asigna cada ejemplo a la media más cercana.</a:t>
            </a:r>
            <a:endParaRPr/>
          </a:p>
        </p:txBody>
      </p:sp>
      <p:pic>
        <p:nvPicPr>
          <p:cNvPr id="214" name="Google Shape;21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145" y="3184270"/>
            <a:ext cx="356387" cy="2607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13"/>
          <p:cNvGrpSpPr/>
          <p:nvPr/>
        </p:nvGrpSpPr>
        <p:grpSpPr>
          <a:xfrm>
            <a:off x="1207490" y="2670682"/>
            <a:ext cx="746659" cy="2102993"/>
            <a:chOff x="1207490" y="2670682"/>
            <a:chExt cx="746659" cy="2102993"/>
          </a:xfrm>
        </p:grpSpPr>
        <p:pic>
          <p:nvPicPr>
            <p:cNvPr id="216" name="Google Shape;216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22528" y="2715259"/>
              <a:ext cx="289202" cy="229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07490" y="2670682"/>
              <a:ext cx="654202" cy="21029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22552" y="3087115"/>
              <a:ext cx="331597" cy="2706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9" name="Google Shape;219;p13"/>
          <p:cNvGrpSpPr/>
          <p:nvPr/>
        </p:nvGrpSpPr>
        <p:grpSpPr>
          <a:xfrm>
            <a:off x="2130961" y="2705100"/>
            <a:ext cx="680183" cy="2052066"/>
            <a:chOff x="2130961" y="2705100"/>
            <a:chExt cx="680183" cy="2052066"/>
          </a:xfrm>
        </p:grpSpPr>
        <p:pic>
          <p:nvPicPr>
            <p:cNvPr id="220" name="Google Shape;220;p1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146808" y="2725166"/>
              <a:ext cx="430530" cy="234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130961" y="3202177"/>
              <a:ext cx="119732" cy="2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1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197354" y="2705100"/>
              <a:ext cx="613790" cy="20520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3" name="Google Shape;223;p13"/>
          <p:cNvSpPr txBox="1"/>
          <p:nvPr/>
        </p:nvSpPr>
        <p:spPr>
          <a:xfrm>
            <a:off x="950975" y="2093214"/>
            <a:ext cx="20142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Input: data matrix ‘X’.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"/>
          <p:cNvSpPr txBox="1"/>
          <p:nvPr>
            <p:ph type="title"/>
          </p:nvPr>
        </p:nvSpPr>
        <p:spPr>
          <a:xfrm>
            <a:off x="3733800" y="363219"/>
            <a:ext cx="4394707" cy="689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K-Means: Ejemplo</a:t>
            </a:r>
            <a:endParaRPr/>
          </a:p>
        </p:txBody>
      </p:sp>
      <p:pic>
        <p:nvPicPr>
          <p:cNvPr id="229" name="Google Shape;22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0439" y="1727200"/>
            <a:ext cx="5802137" cy="4545753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4"/>
          <p:cNvSpPr txBox="1"/>
          <p:nvPr/>
        </p:nvSpPr>
        <p:spPr>
          <a:xfrm>
            <a:off x="8705595" y="3094989"/>
            <a:ext cx="2857260" cy="874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23519" lvl="0" marL="235584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latin typeface="Calibri"/>
                <a:ea typeface="Calibri"/>
                <a:cs typeface="Calibri"/>
                <a:sym typeface="Calibri"/>
              </a:rPr>
              <a:t>Actualiza la media de cada grupo.</a:t>
            </a:r>
            <a:endParaRPr/>
          </a:p>
        </p:txBody>
      </p:sp>
      <p:pic>
        <p:nvPicPr>
          <p:cNvPr id="231" name="Google Shape;23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145" y="3184270"/>
            <a:ext cx="356387" cy="2607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" name="Google Shape;232;p14"/>
          <p:cNvGrpSpPr/>
          <p:nvPr/>
        </p:nvGrpSpPr>
        <p:grpSpPr>
          <a:xfrm>
            <a:off x="1207490" y="2670682"/>
            <a:ext cx="746659" cy="2102993"/>
            <a:chOff x="1207490" y="2670682"/>
            <a:chExt cx="746659" cy="2102993"/>
          </a:xfrm>
        </p:grpSpPr>
        <p:pic>
          <p:nvPicPr>
            <p:cNvPr id="233" name="Google Shape;233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22528" y="2715259"/>
              <a:ext cx="289202" cy="229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07490" y="2670682"/>
              <a:ext cx="654202" cy="21029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22552" y="3087115"/>
              <a:ext cx="331597" cy="2706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6" name="Google Shape;236;p14"/>
          <p:cNvGrpSpPr/>
          <p:nvPr/>
        </p:nvGrpSpPr>
        <p:grpSpPr>
          <a:xfrm>
            <a:off x="2130961" y="2705100"/>
            <a:ext cx="680183" cy="2052066"/>
            <a:chOff x="2130961" y="2705100"/>
            <a:chExt cx="680183" cy="2052066"/>
          </a:xfrm>
        </p:grpSpPr>
        <p:pic>
          <p:nvPicPr>
            <p:cNvPr id="237" name="Google Shape;237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146808" y="2725166"/>
              <a:ext cx="430530" cy="234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130961" y="3202177"/>
              <a:ext cx="119732" cy="2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1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197354" y="2705100"/>
              <a:ext cx="613790" cy="20520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0" name="Google Shape;240;p14"/>
          <p:cNvSpPr txBox="1"/>
          <p:nvPr/>
        </p:nvSpPr>
        <p:spPr>
          <a:xfrm>
            <a:off x="950975" y="2093214"/>
            <a:ext cx="20142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Input: data matrix ‘X’.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"/>
          <p:cNvSpPr txBox="1"/>
          <p:nvPr>
            <p:ph type="title"/>
          </p:nvPr>
        </p:nvSpPr>
        <p:spPr>
          <a:xfrm>
            <a:off x="4059428" y="363219"/>
            <a:ext cx="4551172" cy="689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K-Means: Ejemplo</a:t>
            </a:r>
            <a:endParaRPr/>
          </a:p>
        </p:txBody>
      </p:sp>
      <p:pic>
        <p:nvPicPr>
          <p:cNvPr id="246" name="Google Shape;24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0439" y="1727200"/>
            <a:ext cx="5802137" cy="4545753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5"/>
          <p:cNvSpPr txBox="1"/>
          <p:nvPr/>
        </p:nvSpPr>
        <p:spPr>
          <a:xfrm>
            <a:off x="7772401" y="3094989"/>
            <a:ext cx="3907154" cy="874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12750" lvl="0" marL="42481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latin typeface="Calibri"/>
                <a:ea typeface="Calibri"/>
                <a:cs typeface="Calibri"/>
                <a:sym typeface="Calibri"/>
              </a:rPr>
              <a:t>Asigna cada ejemplo a la media más cercana.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145" y="3184270"/>
            <a:ext cx="356387" cy="2607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15"/>
          <p:cNvGrpSpPr/>
          <p:nvPr/>
        </p:nvGrpSpPr>
        <p:grpSpPr>
          <a:xfrm>
            <a:off x="1207490" y="2670682"/>
            <a:ext cx="746659" cy="2102993"/>
            <a:chOff x="1207490" y="2670682"/>
            <a:chExt cx="746659" cy="2102993"/>
          </a:xfrm>
        </p:grpSpPr>
        <p:pic>
          <p:nvPicPr>
            <p:cNvPr id="250" name="Google Shape;250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22528" y="2715259"/>
              <a:ext cx="289202" cy="229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07490" y="2670682"/>
              <a:ext cx="654202" cy="21029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" name="Google Shape;252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22552" y="3087115"/>
              <a:ext cx="331597" cy="2706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3" name="Google Shape;253;p15"/>
          <p:cNvGrpSpPr/>
          <p:nvPr/>
        </p:nvGrpSpPr>
        <p:grpSpPr>
          <a:xfrm>
            <a:off x="2130961" y="2705100"/>
            <a:ext cx="680183" cy="2052066"/>
            <a:chOff x="2130961" y="2705100"/>
            <a:chExt cx="680183" cy="2052066"/>
          </a:xfrm>
        </p:grpSpPr>
        <p:pic>
          <p:nvPicPr>
            <p:cNvPr id="254" name="Google Shape;254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146808" y="2725166"/>
              <a:ext cx="430530" cy="234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130961" y="3202177"/>
              <a:ext cx="119732" cy="2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1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197354" y="2705100"/>
              <a:ext cx="613790" cy="20520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7" name="Google Shape;257;p15"/>
          <p:cNvSpPr txBox="1"/>
          <p:nvPr/>
        </p:nvSpPr>
        <p:spPr>
          <a:xfrm>
            <a:off x="950975" y="2093214"/>
            <a:ext cx="20142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Input: data matrix ‘X’.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"/>
          <p:cNvSpPr txBox="1"/>
          <p:nvPr>
            <p:ph type="title"/>
          </p:nvPr>
        </p:nvSpPr>
        <p:spPr>
          <a:xfrm>
            <a:off x="4059428" y="363219"/>
            <a:ext cx="4474972" cy="689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K-Means: Ejemplo</a:t>
            </a:r>
            <a:endParaRPr/>
          </a:p>
        </p:txBody>
      </p:sp>
      <p:pic>
        <p:nvPicPr>
          <p:cNvPr id="263" name="Google Shape;2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0439" y="1727200"/>
            <a:ext cx="5802137" cy="4545753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6"/>
          <p:cNvSpPr txBox="1"/>
          <p:nvPr/>
        </p:nvSpPr>
        <p:spPr>
          <a:xfrm>
            <a:off x="8128508" y="2906013"/>
            <a:ext cx="3655188" cy="130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14325" lvl="0" marL="32639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latin typeface="Calibri"/>
                <a:ea typeface="Calibri"/>
                <a:cs typeface="Calibri"/>
                <a:sym typeface="Calibri"/>
              </a:rPr>
              <a:t>Deténgase si ningún ejemplo cambia de grupo.</a:t>
            </a:r>
            <a:endParaRPr/>
          </a:p>
        </p:txBody>
      </p:sp>
      <p:pic>
        <p:nvPicPr>
          <p:cNvPr id="265" name="Google Shape;26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145" y="3184270"/>
            <a:ext cx="356387" cy="2607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" name="Google Shape;266;p16"/>
          <p:cNvGrpSpPr/>
          <p:nvPr/>
        </p:nvGrpSpPr>
        <p:grpSpPr>
          <a:xfrm>
            <a:off x="1207490" y="2670682"/>
            <a:ext cx="746659" cy="2102993"/>
            <a:chOff x="1207490" y="2670682"/>
            <a:chExt cx="746659" cy="2102993"/>
          </a:xfrm>
        </p:grpSpPr>
        <p:pic>
          <p:nvPicPr>
            <p:cNvPr id="267" name="Google Shape;267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22528" y="2715259"/>
              <a:ext cx="289202" cy="229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07490" y="2670682"/>
              <a:ext cx="654202" cy="21029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" name="Google Shape;269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22552" y="3087115"/>
              <a:ext cx="331597" cy="2706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0" name="Google Shape;270;p16"/>
          <p:cNvGrpSpPr/>
          <p:nvPr/>
        </p:nvGrpSpPr>
        <p:grpSpPr>
          <a:xfrm>
            <a:off x="2130961" y="2705100"/>
            <a:ext cx="680183" cy="2052066"/>
            <a:chOff x="2130961" y="2705100"/>
            <a:chExt cx="680183" cy="2052066"/>
          </a:xfrm>
        </p:grpSpPr>
        <p:pic>
          <p:nvPicPr>
            <p:cNvPr id="271" name="Google Shape;271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146808" y="2725166"/>
              <a:ext cx="430530" cy="234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130961" y="3202177"/>
              <a:ext cx="119732" cy="2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1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197354" y="2705100"/>
              <a:ext cx="613790" cy="20520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4" name="Google Shape;274;p16"/>
          <p:cNvSpPr txBox="1"/>
          <p:nvPr/>
        </p:nvSpPr>
        <p:spPr>
          <a:xfrm>
            <a:off x="950975" y="2093214"/>
            <a:ext cx="20142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Input: data matrix ‘X’.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"/>
          <p:cNvSpPr txBox="1"/>
          <p:nvPr>
            <p:ph type="title"/>
          </p:nvPr>
        </p:nvSpPr>
        <p:spPr>
          <a:xfrm>
            <a:off x="4059428" y="363219"/>
            <a:ext cx="4775580" cy="689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K-Means: Ejemplo</a:t>
            </a:r>
            <a:endParaRPr/>
          </a:p>
        </p:txBody>
      </p:sp>
      <p:pic>
        <p:nvPicPr>
          <p:cNvPr id="280" name="Google Shape;28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0439" y="1727200"/>
            <a:ext cx="5802137" cy="454575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7"/>
          <p:cNvSpPr txBox="1"/>
          <p:nvPr/>
        </p:nvSpPr>
        <p:spPr>
          <a:xfrm>
            <a:off x="229615" y="6100826"/>
            <a:ext cx="621982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Demo interactivo: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https://www.naftaliharris.com/blog/visualizing-k-means-clustering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145" y="3184270"/>
            <a:ext cx="356387" cy="2607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" name="Google Shape;283;p17"/>
          <p:cNvGrpSpPr/>
          <p:nvPr/>
        </p:nvGrpSpPr>
        <p:grpSpPr>
          <a:xfrm>
            <a:off x="1207490" y="2670682"/>
            <a:ext cx="746659" cy="2102993"/>
            <a:chOff x="1207490" y="2670682"/>
            <a:chExt cx="746659" cy="2102993"/>
          </a:xfrm>
        </p:grpSpPr>
        <p:pic>
          <p:nvPicPr>
            <p:cNvPr id="284" name="Google Shape;284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622528" y="2715259"/>
              <a:ext cx="289202" cy="229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07490" y="2670682"/>
              <a:ext cx="654202" cy="21029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622552" y="3087115"/>
              <a:ext cx="331597" cy="2706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7" name="Google Shape;287;p17"/>
          <p:cNvGrpSpPr/>
          <p:nvPr/>
        </p:nvGrpSpPr>
        <p:grpSpPr>
          <a:xfrm>
            <a:off x="2130961" y="2705100"/>
            <a:ext cx="680183" cy="2052066"/>
            <a:chOff x="2130961" y="2705100"/>
            <a:chExt cx="680183" cy="2052066"/>
          </a:xfrm>
        </p:grpSpPr>
        <p:pic>
          <p:nvPicPr>
            <p:cNvPr id="288" name="Google Shape;288;p1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146808" y="2725166"/>
              <a:ext cx="430530" cy="234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p1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130961" y="3202177"/>
              <a:ext cx="119732" cy="26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1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197354" y="2705100"/>
              <a:ext cx="613790" cy="20520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1" name="Google Shape;291;p17"/>
          <p:cNvSpPr txBox="1"/>
          <p:nvPr/>
        </p:nvSpPr>
        <p:spPr>
          <a:xfrm>
            <a:off x="950975" y="2093214"/>
            <a:ext cx="20142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Input: data matrix ‘X’.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 txBox="1"/>
          <p:nvPr/>
        </p:nvSpPr>
        <p:spPr>
          <a:xfrm>
            <a:off x="9450323" y="1446021"/>
            <a:ext cx="7524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7"/>
          <p:cNvSpPr txBox="1"/>
          <p:nvPr/>
        </p:nvSpPr>
        <p:spPr>
          <a:xfrm>
            <a:off x="10339831" y="1054311"/>
            <a:ext cx="1367790" cy="1169487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-9332" r="0" t="-624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/>
              <a:t> 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8"/>
          <p:cNvSpPr txBox="1"/>
          <p:nvPr>
            <p:ph type="title"/>
          </p:nvPr>
        </p:nvSpPr>
        <p:spPr>
          <a:xfrm>
            <a:off x="1757362" y="381000"/>
            <a:ext cx="7696200" cy="689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Consideraciones del K-Means</a:t>
            </a:r>
            <a:endParaRPr/>
          </a:p>
        </p:txBody>
      </p:sp>
      <p:sp>
        <p:nvSpPr>
          <p:cNvPr id="299" name="Google Shape;299;p18"/>
          <p:cNvSpPr txBox="1"/>
          <p:nvPr/>
        </p:nvSpPr>
        <p:spPr>
          <a:xfrm>
            <a:off x="688340" y="1305052"/>
            <a:ext cx="10970260" cy="4968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Se garantiza la convergencia cuando se utiliza la distancia euclidiana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90500" lvl="0" marL="3556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Dado un nuevo ejemplo de prueba: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lang="es-ES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Asignarlo a la media más cercana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agruparlo.</a:t>
            </a:r>
            <a:endParaRPr/>
          </a:p>
          <a:p>
            <a:pPr indent="-190500" lvl="0" marL="3556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asume que se </a:t>
            </a:r>
            <a:r>
              <a:rPr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conoce el número de clusters 'k’.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Muchas heurísticas para elegir 'k', ninguna satisfactoria: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r>
              <a:rPr lang="es-ES" sz="2400" u="sng">
                <a:solidFill>
                  <a:schemeClr val="hlink"/>
                </a:solidFill>
                <a:hlinkClick r:id="rId3"/>
              </a:rPr>
              <a:t> Determining the number of clusters in a data set – Wikipedia</a:t>
            </a:r>
            <a:r>
              <a:rPr lang="es-ES" sz="2400"/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ejemplo se asigna a </a:t>
            </a:r>
            <a:r>
              <a:rPr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un (y sólo un) clúster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No hay posibilidad de solapar clusters o dejar ejemplos sin asignar.</a:t>
            </a:r>
            <a:endParaRPr/>
          </a:p>
          <a:p>
            <a:pPr indent="-190500" lvl="0" marL="3556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Puede converger a una </a:t>
            </a:r>
            <a:r>
              <a:rPr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solución subóptima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9"/>
          <p:cNvSpPr txBox="1"/>
          <p:nvPr>
            <p:ph type="title"/>
          </p:nvPr>
        </p:nvSpPr>
        <p:spPr>
          <a:xfrm>
            <a:off x="789686" y="363219"/>
            <a:ext cx="10608310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Clustering K-Means con diferente inicialización</a:t>
            </a:r>
            <a:endParaRPr/>
          </a:p>
        </p:txBody>
      </p:sp>
      <p:pic>
        <p:nvPicPr>
          <p:cNvPr id="305" name="Google Shape;3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4502" y="1369483"/>
            <a:ext cx="4641834" cy="3745653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9"/>
          <p:cNvSpPr txBox="1"/>
          <p:nvPr/>
        </p:nvSpPr>
        <p:spPr>
          <a:xfrm>
            <a:off x="688340" y="5402326"/>
            <a:ext cx="11122660" cy="1145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s-ES" sz="2400">
                <a:latin typeface="Calibri"/>
                <a:ea typeface="Calibri"/>
                <a:cs typeface="Calibri"/>
                <a:sym typeface="Calibri"/>
              </a:rPr>
              <a:t>Enfoque clásico para tratar la sensibilidad a la inicialización: </a:t>
            </a:r>
            <a:r>
              <a:rPr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reinicios aleatorios</a:t>
            </a:r>
            <a:r>
              <a:rPr lang="es-ES" sz="2400"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42900" lvl="0" marL="35560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s-ES" sz="2400">
                <a:latin typeface="Calibri"/>
                <a:ea typeface="Calibri"/>
                <a:cs typeface="Calibri"/>
                <a:sym typeface="Calibri"/>
              </a:rPr>
              <a:t>- Probar varios puntos de partida aleatorios diferentes, elegir el "mejor".</a:t>
            </a:r>
            <a:endParaRPr/>
          </a:p>
          <a:p>
            <a:pPr indent="-342900" lvl="0" marL="35560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s-ES" sz="2400">
                <a:latin typeface="Calibri"/>
                <a:ea typeface="Calibri"/>
                <a:cs typeface="Calibri"/>
                <a:sym typeface="Calibri"/>
              </a:rPr>
              <a:t>Vea las diapositivas adicionales para un enfoque más inteligente llamado k-means++.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"/>
          <p:cNvSpPr txBox="1"/>
          <p:nvPr>
            <p:ph type="title"/>
          </p:nvPr>
        </p:nvSpPr>
        <p:spPr>
          <a:xfrm>
            <a:off x="2211577" y="363219"/>
            <a:ext cx="7768844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Código</a:t>
            </a:r>
            <a:endParaRPr/>
          </a:p>
        </p:txBody>
      </p:sp>
      <p:pic>
        <p:nvPicPr>
          <p:cNvPr id="312" name="Google Shape;3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8647" y="1844427"/>
            <a:ext cx="9194705" cy="451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1"/>
          <p:cNvSpPr txBox="1"/>
          <p:nvPr>
            <p:ph type="title"/>
          </p:nvPr>
        </p:nvSpPr>
        <p:spPr>
          <a:xfrm>
            <a:off x="3306571" y="363219"/>
            <a:ext cx="557466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¿Qué hace K-Means?</a:t>
            </a:r>
            <a:endParaRPr/>
          </a:p>
        </p:txBody>
      </p:sp>
      <p:sp>
        <p:nvSpPr>
          <p:cNvPr id="318" name="Google Shape;318;p21"/>
          <p:cNvSpPr txBox="1"/>
          <p:nvPr/>
        </p:nvSpPr>
        <p:spPr>
          <a:xfrm>
            <a:off x="821563" y="1062578"/>
            <a:ext cx="10637900" cy="102669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3607" l="-143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/>
              <a:t> </a:t>
            </a:r>
            <a:endParaRPr/>
          </a:p>
        </p:txBody>
      </p:sp>
      <p:sp>
        <p:nvSpPr>
          <p:cNvPr id="319" name="Google Shape;319;p21"/>
          <p:cNvSpPr txBox="1"/>
          <p:nvPr/>
        </p:nvSpPr>
        <p:spPr>
          <a:xfrm>
            <a:off x="662940" y="3451036"/>
            <a:ext cx="10309860" cy="335354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272" l="-135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/>
              <a:t> </a:t>
            </a:r>
            <a:endParaRPr/>
          </a:p>
        </p:txBody>
      </p:sp>
      <p:pic>
        <p:nvPicPr>
          <p:cNvPr id="320" name="Google Shape;32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05200" y="2232950"/>
            <a:ext cx="4496427" cy="1038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2"/>
          <p:cNvSpPr txBox="1"/>
          <p:nvPr>
            <p:ph type="title"/>
          </p:nvPr>
        </p:nvSpPr>
        <p:spPr>
          <a:xfrm>
            <a:off x="4242307" y="363219"/>
            <a:ext cx="4764151" cy="689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costo del K-means</a:t>
            </a:r>
            <a:endParaRPr/>
          </a:p>
        </p:txBody>
      </p:sp>
      <p:sp>
        <p:nvSpPr>
          <p:cNvPr id="326" name="Google Shape;326;p22"/>
          <p:cNvSpPr txBox="1"/>
          <p:nvPr/>
        </p:nvSpPr>
        <p:spPr>
          <a:xfrm>
            <a:off x="675640" y="1380490"/>
            <a:ext cx="10194290" cy="93615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4673" l="-1913" r="0" t="-110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/>
              <a:t> </a:t>
            </a:r>
            <a:endParaRPr/>
          </a:p>
        </p:txBody>
      </p:sp>
      <p:pic>
        <p:nvPicPr>
          <p:cNvPr id="327" name="Google Shape;32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5000" y="2644624"/>
            <a:ext cx="5181600" cy="3918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0319" y="3558397"/>
            <a:ext cx="727606" cy="993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2862" y="3462621"/>
            <a:ext cx="2289960" cy="1048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8422" y="3383781"/>
            <a:ext cx="197280" cy="266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24542" y="4244530"/>
            <a:ext cx="2484360" cy="1422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3"/>
          <p:cNvSpPr txBox="1"/>
          <p:nvPr>
            <p:ph type="title"/>
          </p:nvPr>
        </p:nvSpPr>
        <p:spPr>
          <a:xfrm>
            <a:off x="2971800" y="363219"/>
            <a:ext cx="5391530" cy="689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costo del K-means</a:t>
            </a:r>
            <a:endParaRPr/>
          </a:p>
        </p:txBody>
      </p:sp>
      <p:sp>
        <p:nvSpPr>
          <p:cNvPr id="337" name="Google Shape;337;p23"/>
          <p:cNvSpPr txBox="1"/>
          <p:nvPr/>
        </p:nvSpPr>
        <p:spPr>
          <a:xfrm>
            <a:off x="675640" y="1380490"/>
            <a:ext cx="10194290" cy="148931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913" r="0" t="-69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/>
              <a:t> </a:t>
            </a:r>
            <a:endParaRPr/>
          </a:p>
        </p:txBody>
      </p:sp>
      <p:sp>
        <p:nvSpPr>
          <p:cNvPr id="338" name="Google Shape;338;p23"/>
          <p:cNvSpPr txBox="1"/>
          <p:nvPr/>
        </p:nvSpPr>
        <p:spPr>
          <a:xfrm>
            <a:off x="572070" y="2600506"/>
            <a:ext cx="10530649" cy="244874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6732" l="0" r="0" t="-74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/>
              <a:t> 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4"/>
          <p:cNvSpPr txBox="1"/>
          <p:nvPr>
            <p:ph type="title"/>
          </p:nvPr>
        </p:nvSpPr>
        <p:spPr>
          <a:xfrm>
            <a:off x="2743200" y="152400"/>
            <a:ext cx="6096000" cy="689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Cuantificación vectorial</a:t>
            </a:r>
            <a:endParaRPr/>
          </a:p>
        </p:txBody>
      </p:sp>
      <p:sp>
        <p:nvSpPr>
          <p:cNvPr id="344" name="Google Shape;344;p24"/>
          <p:cNvSpPr txBox="1"/>
          <p:nvPr/>
        </p:nvSpPr>
        <p:spPr>
          <a:xfrm>
            <a:off x="688339" y="1289050"/>
            <a:ext cx="11476989" cy="3123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125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s-ES" sz="3000">
                <a:latin typeface="Calibri"/>
                <a:ea typeface="Calibri"/>
                <a:cs typeface="Calibri"/>
                <a:sym typeface="Calibri"/>
              </a:rPr>
              <a:t>K-means proviene originalmente del procesamiento de señales.</a:t>
            </a:r>
            <a:endParaRPr/>
          </a:p>
          <a:p>
            <a:pPr indent="-342900" lvl="0" marL="35560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s-ES" sz="3000">
                <a:latin typeface="Calibri"/>
                <a:ea typeface="Calibri"/>
                <a:cs typeface="Calibri"/>
                <a:sym typeface="Calibri"/>
              </a:rPr>
              <a:t>Diseñado para la </a:t>
            </a:r>
            <a:r>
              <a:rPr lang="es-ES" sz="3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cuantificación de vectores</a:t>
            </a:r>
            <a:r>
              <a:rPr lang="es-ES" sz="3000"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342900" lvl="0" marL="355600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s-ES" sz="3000">
                <a:latin typeface="Calibri"/>
                <a:ea typeface="Calibri"/>
                <a:cs typeface="Calibri"/>
                <a:sym typeface="Calibri"/>
              </a:rPr>
              <a:t>Sustituye los ejemplos por la media de su cluster ("prototipo").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•"/>
            </a:pPr>
            <a:r>
              <a:rPr lang="es-ES" sz="3000">
                <a:latin typeface="Calibri"/>
                <a:ea typeface="Calibri"/>
                <a:cs typeface="Calibri"/>
                <a:sym typeface="Calibri"/>
              </a:rPr>
              <a:t>Ejemplos: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5565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s-ES" sz="2600">
                <a:latin typeface="Calibri"/>
                <a:ea typeface="Calibri"/>
                <a:cs typeface="Calibri"/>
                <a:sym typeface="Calibri"/>
              </a:rPr>
              <a:t>Lugares en Facebook: 1 lugar resume muchos.</a:t>
            </a:r>
            <a:endParaRPr/>
          </a:p>
          <a:p>
            <a:pPr indent="-285750" lvl="1" marL="75565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s-ES" sz="2600">
                <a:latin typeface="Calibri"/>
                <a:ea typeface="Calibri"/>
                <a:cs typeface="Calibri"/>
                <a:sym typeface="Calibri"/>
              </a:rPr>
              <a:t>¿Qué tallas de ropa debo hacer?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7159" y="3505199"/>
            <a:ext cx="4408170" cy="3342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475" y="5181600"/>
            <a:ext cx="5238750" cy="13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4"/>
          <p:cNvSpPr txBox="1"/>
          <p:nvPr/>
        </p:nvSpPr>
        <p:spPr>
          <a:xfrm>
            <a:off x="102615" y="6619493"/>
            <a:ext cx="575183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u="sng">
                <a:solidFill>
                  <a:srgbClr val="EDEBE0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http://wannabite.com/wp-content/uploads/2014/10/ragu-pasta-sauce-printable-coupon.jpg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"/>
          <p:cNvSpPr txBox="1"/>
          <p:nvPr>
            <p:ph type="title"/>
          </p:nvPr>
        </p:nvSpPr>
        <p:spPr>
          <a:xfrm>
            <a:off x="2211070" y="363219"/>
            <a:ext cx="9018396" cy="689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Ejemplo de cuantificación vectorial</a:t>
            </a:r>
            <a:endParaRPr/>
          </a:p>
        </p:txBody>
      </p:sp>
      <p:pic>
        <p:nvPicPr>
          <p:cNvPr id="353" name="Google Shape;35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" y="1074608"/>
            <a:ext cx="3876294" cy="290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4865" y="3895658"/>
            <a:ext cx="94805" cy="144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6384" y="3880545"/>
            <a:ext cx="105537" cy="133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46503" y="3825174"/>
            <a:ext cx="92202" cy="223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81246" y="1071560"/>
            <a:ext cx="3876293" cy="290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06536" y="1088324"/>
            <a:ext cx="3876294" cy="290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" y="1074608"/>
            <a:ext cx="3876294" cy="290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4865" y="3895658"/>
            <a:ext cx="94805" cy="144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6384" y="3880545"/>
            <a:ext cx="105537" cy="133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46503" y="3825174"/>
            <a:ext cx="92202" cy="223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81246" y="1071560"/>
            <a:ext cx="3876293" cy="2907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06536" y="1088324"/>
            <a:ext cx="3876294" cy="2907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6"/>
          <p:cNvSpPr txBox="1"/>
          <p:nvPr>
            <p:ph type="title"/>
          </p:nvPr>
        </p:nvSpPr>
        <p:spPr>
          <a:xfrm>
            <a:off x="4419600" y="304800"/>
            <a:ext cx="2185035" cy="13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Resumen</a:t>
            </a:r>
            <a:endParaRPr/>
          </a:p>
        </p:txBody>
      </p:sp>
      <p:sp>
        <p:nvSpPr>
          <p:cNvPr id="370" name="Google Shape;370;p26"/>
          <p:cNvSpPr txBox="1"/>
          <p:nvPr/>
        </p:nvSpPr>
        <p:spPr>
          <a:xfrm>
            <a:off x="688340" y="1293437"/>
            <a:ext cx="10589260" cy="326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8400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</a:pPr>
            <a:r>
              <a:rPr lang="es-E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Aprendizaje no supervisado: 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ajuste de datos sin etiquetas explícitas</a:t>
            </a:r>
            <a:r>
              <a:rPr lang="es-E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42900" lvl="0" marL="355600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</a:pPr>
            <a:r>
              <a:rPr lang="es-E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Agrupación: 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búsqueda de "grupos" de ejemplos relacionados.</a:t>
            </a:r>
            <a:endParaRPr/>
          </a:p>
          <a:p>
            <a:pPr indent="-342900" lvl="0" marL="355600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</a:pPr>
            <a:r>
              <a:rPr lang="es-E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K-means: 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estrategia sencilla de agrupación iterativa.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- Rápida pero sensible a la inicialización.</a:t>
            </a:r>
            <a:endParaRPr/>
          </a:p>
          <a:p>
            <a:pPr indent="-342900" lvl="0" marL="355600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Char char="•"/>
            </a:pPr>
            <a:r>
              <a:rPr lang="es-E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Cuantificación vectorial: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- Compresión de los ejemplos sustituyéndolos por la media de su 			   clúster.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2022-04-03T16:09:16Z</dcterms:created>
  <dc:creator>Mark William Schmidt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2019-09-21T00:00:00Z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2022-04-03T00:00:00Z</vt:filetime>
  </property>
</Properties>
</file>